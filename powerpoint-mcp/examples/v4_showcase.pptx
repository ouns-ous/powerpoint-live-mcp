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93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09D20F-81DD-3071-3279-21A8BFB75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C6DBF2-062D-F1CA-C879-4CEFBB681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C3981F-10F3-6D67-A078-E15CACD4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F6B1C1-325C-5536-F527-FD612EF5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144A5B-5831-CD24-3DCF-3DDB716A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85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843E71-B36A-012D-C6AC-A50ECA42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3A510F-ED3C-A491-5611-3CA501FDC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2F2256-2E70-B250-46ED-FC9E8294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B4B7D8-F6F6-91FC-F687-C11F02E75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0615C4-4449-17A1-AC86-614BED3A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33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3D6D59-644A-A6CE-4DCF-AB495798A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5F8D2A-500C-2547-A623-A5ECE84C3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8A8949-8415-C961-2A62-A85396E1D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BB0BAC-0948-CE3C-D9D3-449A58E9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5C2D84-2218-B22B-DE82-BFF4113F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25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1C1E8-37A5-18CE-B281-DAE44EDC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70E8D7-18E8-FB5B-17F0-F6296875F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BD1658-6667-7BC9-4EDC-BC5DED0E8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344663-40AF-6854-04C7-90285B35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9E9037-BE5B-F041-33C2-82F5245E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9BE4DE-95D8-8E3E-4AC5-9F5EF3CB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34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D4BCC-127E-9D24-6C53-561BBCD6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5DB442-5233-8D76-69F3-56FDA588F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8F2278-FD2E-0010-1A03-F2781D1B8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0380164-18BD-1C81-D5A4-B1D7DD34A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FEFD852-831F-06C2-7569-3D821E7B8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D415D3-E722-164B-818C-C14ECB16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BF35F39-5FB7-9D33-B47D-FDF40C0B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8975BC6-603E-9B53-88C0-65466338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17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B6955-BCAE-883D-148C-2BD77111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56B1469-385A-F2A2-1C14-BC8F52DEF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532360-EF8B-B946-2BD5-974C2C3A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823817-451A-AA6D-825E-D217054A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225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BA1353-AEF4-C2EC-C31E-3F2573D1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D7D2-6C0B-8712-9F15-CBA9DA29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6089FE-29F4-581E-DCD1-1A3D5532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45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E2D7E-E051-51EE-13B6-CD3A7897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FAE85-6848-C415-1B74-655493988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CA00682-6633-2D2E-C678-8A7285188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9D165C-4D28-5F75-C6DF-3B006838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F80D4C-8F3B-7287-657F-A541AFFD0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D2D8F9-2272-C9DD-97F3-EC72CD08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989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62BC71-8FD1-A44C-7D12-3B952F9B7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A64AA8-B76E-FE8F-71F3-33E03D040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ECFDCE-8E85-6A9C-0F5A-237C35A8E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BA33A8-205A-4A6D-308A-6F971BAA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003635-B4F7-799B-A50F-3E971F54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24912D-01B7-2B9F-119D-85A7719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83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74861-5575-909A-0A0F-7C3FC0E3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E8D2CF-C3F7-F7F2-F09A-A2AF83114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0B7718-948C-38E1-222B-93856A4B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EC6AF1-BEF7-310A-6D16-8E23481F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9196AA-B58F-F5C9-FE47-EF83A047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22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696590-33A2-F9A4-A4BF-A9E95BB5F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F3572A-6BDD-7FBF-CF33-95B0DCF91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2E9022-63FD-3AD5-3FC1-B7F5CFB1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56B898-498E-1239-3364-A7D4E7BB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317062-280E-FEC2-94D9-1FEDFAC2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799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1FC1682-D26B-8747-C7A1-2781425D0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7189C3-8187-A763-73FD-A09C47B68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89DF78-E411-2A37-AF51-513E2838E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43E6A-13BF-49A5-9C39-F3CBF893EE6B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7DE163-4CE0-0F2A-BA22-CA49391D3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7F15E0-52B1-A22F-C7A8-FC37FC96E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A45F9-DC77-4B13-9DE7-394671F76B1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52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BA7AACA4-7D21-3A79-225B-F245D462636B}"/>
              </a:ext>
            </a:extLst>
          </p:cNvPr>
          <p:cNvSpPr txBox="1"/>
          <p:nvPr/>
        </p:nvSpPr>
        <p:spPr>
          <a:xfrm>
            <a:off x="1016000" y="5715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Strategic SWOT Analysis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AB87DF9-7B09-4285-6136-145A5FA1C020}"/>
              </a:ext>
            </a:extLst>
          </p:cNvPr>
          <p:cNvSpPr/>
          <p:nvPr/>
        </p:nvSpPr>
        <p:spPr>
          <a:xfrm>
            <a:off x="1016000" y="1460500"/>
            <a:ext cx="4978400" cy="218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4D2D799-88D8-B666-8443-DDCF9E66041D}"/>
              </a:ext>
            </a:extLst>
          </p:cNvPr>
          <p:cNvSpPr/>
          <p:nvPr/>
        </p:nvSpPr>
        <p:spPr>
          <a:xfrm>
            <a:off x="1168400" y="1587500"/>
            <a:ext cx="304800" cy="2794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Segoe UI" panose="020B0502040204020203" pitchFamily="34" charset="0"/>
              </a:rPr>
              <a:t>S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16F9D1E7-150E-0183-A7B6-C26388F2DEF3}"/>
              </a:ext>
            </a:extLst>
          </p:cNvPr>
          <p:cNvSpPr txBox="1"/>
          <p:nvPr/>
        </p:nvSpPr>
        <p:spPr>
          <a:xfrm>
            <a:off x="1549400" y="1562100"/>
            <a:ext cx="42926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10B981"/>
                </a:solidFill>
                <a:latin typeface="Segoe UI" panose="020B0502040204020203" pitchFamily="34" charset="0"/>
              </a:rPr>
              <a:t>STRENGTHS</a:t>
            </a: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119ECD96-F7A4-24DB-44DE-B6556B6A956A}"/>
              </a:ext>
            </a:extLst>
          </p:cNvPr>
          <p:cNvSpPr txBox="1"/>
          <p:nvPr/>
        </p:nvSpPr>
        <p:spPr>
          <a:xfrm>
            <a:off x="1168400" y="1917700"/>
            <a:ext cx="4673600" cy="60016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- Proprietary FastMCP architecture
- Sub-10ms COM response times
- 56+ pre-built executive widgets</a:t>
            </a:r>
            <a:endParaRPr lang="fr-F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387C369-567B-2EC6-0FB3-0BCE0029D0B0}"/>
              </a:ext>
            </a:extLst>
          </p:cNvPr>
          <p:cNvSpPr/>
          <p:nvPr/>
        </p:nvSpPr>
        <p:spPr>
          <a:xfrm>
            <a:off x="6197600" y="1460500"/>
            <a:ext cx="4978400" cy="218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BF81361-6CF1-2CA4-1512-4321C484A770}"/>
              </a:ext>
            </a:extLst>
          </p:cNvPr>
          <p:cNvSpPr/>
          <p:nvPr/>
        </p:nvSpPr>
        <p:spPr>
          <a:xfrm>
            <a:off x="6350000" y="1587500"/>
            <a:ext cx="304800" cy="279400"/>
          </a:xfrm>
          <a:prstGeom prst="round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Segoe UI" panose="020B0502040204020203" pitchFamily="34" charset="0"/>
              </a:rPr>
              <a:t>W</a:t>
            </a:r>
          </a:p>
        </p:txBody>
      </p:sp>
      <p:sp useBgFill="1">
        <p:nvSpPr>
          <p:cNvPr id="9" name="ZoneTexte 8">
            <a:extLst>
              <a:ext uri="{FF2B5EF4-FFF2-40B4-BE49-F238E27FC236}">
                <a16:creationId xmlns:a16="http://schemas.microsoft.com/office/drawing/2014/main" id="{88C2BDF1-9894-B830-5A46-36D3EC3E1577}"/>
              </a:ext>
            </a:extLst>
          </p:cNvPr>
          <p:cNvSpPr txBox="1"/>
          <p:nvPr/>
        </p:nvSpPr>
        <p:spPr>
          <a:xfrm>
            <a:off x="6731000" y="1562100"/>
            <a:ext cx="42926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F59E0B"/>
                </a:solidFill>
                <a:latin typeface="Segoe UI" panose="020B0502040204020203" pitchFamily="34" charset="0"/>
              </a:rPr>
              <a:t>WEAKNESSES</a:t>
            </a:r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7EA261CE-1319-625D-2D0D-B37BC7A5B4E2}"/>
              </a:ext>
            </a:extLst>
          </p:cNvPr>
          <p:cNvSpPr txBox="1"/>
          <p:nvPr/>
        </p:nvSpPr>
        <p:spPr>
          <a:xfrm>
            <a:off x="6350000" y="1917700"/>
            <a:ext cx="46736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- Requires Windows OS desktop
- PowerPoint desktop license needed</a:t>
            </a:r>
            <a:endParaRPr lang="fr-F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A558655-0D66-D568-7E1C-53F0EB50DAC5}"/>
              </a:ext>
            </a:extLst>
          </p:cNvPr>
          <p:cNvSpPr/>
          <p:nvPr/>
        </p:nvSpPr>
        <p:spPr>
          <a:xfrm>
            <a:off x="1016000" y="3848100"/>
            <a:ext cx="4978400" cy="218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D144D8C-EBDC-1FCD-2571-6C287CD7CDFC}"/>
              </a:ext>
            </a:extLst>
          </p:cNvPr>
          <p:cNvSpPr/>
          <p:nvPr/>
        </p:nvSpPr>
        <p:spPr>
          <a:xfrm>
            <a:off x="1168400" y="3975100"/>
            <a:ext cx="304800" cy="2794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Segoe UI" panose="020B0502040204020203" pitchFamily="34" charset="0"/>
              </a:rPr>
              <a:t>O</a:t>
            </a:r>
          </a:p>
        </p:txBody>
      </p:sp>
      <p:sp useBgFill="1">
        <p:nvSpPr>
          <p:cNvPr id="13" name="ZoneTexte 12">
            <a:extLst>
              <a:ext uri="{FF2B5EF4-FFF2-40B4-BE49-F238E27FC236}">
                <a16:creationId xmlns:a16="http://schemas.microsoft.com/office/drawing/2014/main" id="{597ABF90-159A-55E8-4102-FD37AC1F066D}"/>
              </a:ext>
            </a:extLst>
          </p:cNvPr>
          <p:cNvSpPr txBox="1"/>
          <p:nvPr/>
        </p:nvSpPr>
        <p:spPr>
          <a:xfrm>
            <a:off x="1549400" y="3949700"/>
            <a:ext cx="42926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3B82F6"/>
                </a:solidFill>
                <a:latin typeface="Segoe UI" panose="020B0502040204020203" pitchFamily="34" charset="0"/>
              </a:rPr>
              <a:t>OPPORTUNITIES</a:t>
            </a:r>
          </a:p>
        </p:txBody>
      </p:sp>
      <p:sp useBgFill="1">
        <p:nvSpPr>
          <p:cNvPr id="14" name="ZoneTexte 13">
            <a:extLst>
              <a:ext uri="{FF2B5EF4-FFF2-40B4-BE49-F238E27FC236}">
                <a16:creationId xmlns:a16="http://schemas.microsoft.com/office/drawing/2014/main" id="{067F916C-C142-5D26-D75C-A4982F98CD9A}"/>
              </a:ext>
            </a:extLst>
          </p:cNvPr>
          <p:cNvSpPr txBox="1"/>
          <p:nvPr/>
        </p:nvSpPr>
        <p:spPr>
          <a:xfrm>
            <a:off x="1168400" y="4305300"/>
            <a:ext cx="4673600" cy="60016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- Enterprise AI assistant market
- Automated pitch deck generation
- Office automation ecosystem</a:t>
            </a:r>
            <a:endParaRPr lang="fr-F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D7BCDAA-176D-AB54-A56B-A5DD6EBA8A02}"/>
              </a:ext>
            </a:extLst>
          </p:cNvPr>
          <p:cNvSpPr/>
          <p:nvPr/>
        </p:nvSpPr>
        <p:spPr>
          <a:xfrm>
            <a:off x="6197600" y="3848100"/>
            <a:ext cx="4978400" cy="21844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5C7EFE1-3EA2-8448-2272-925F6796169D}"/>
              </a:ext>
            </a:extLst>
          </p:cNvPr>
          <p:cNvSpPr/>
          <p:nvPr/>
        </p:nvSpPr>
        <p:spPr>
          <a:xfrm>
            <a:off x="6350000" y="3975100"/>
            <a:ext cx="304800" cy="279400"/>
          </a:xfrm>
          <a:prstGeom prst="roundRect">
            <a:avLst/>
          </a:prstGeom>
          <a:solidFill>
            <a:srgbClr val="F43F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Segoe UI" panose="020B0502040204020203" pitchFamily="34" charset="0"/>
              </a:rPr>
              <a:t>T</a:t>
            </a:r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EEA74A22-DEF3-8D5B-1CA7-4AC980F7B39F}"/>
              </a:ext>
            </a:extLst>
          </p:cNvPr>
          <p:cNvSpPr txBox="1"/>
          <p:nvPr/>
        </p:nvSpPr>
        <p:spPr>
          <a:xfrm>
            <a:off x="6731000" y="3949700"/>
            <a:ext cx="42926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F43F5E"/>
                </a:solidFill>
                <a:latin typeface="Segoe UI" panose="020B0502040204020203" pitchFamily="34" charset="0"/>
              </a:rPr>
              <a:t>THREATS</a:t>
            </a:r>
          </a:p>
        </p:txBody>
      </p:sp>
      <p:sp useBgFill="1">
        <p:nvSpPr>
          <p:cNvPr id="18" name="ZoneTexte 17">
            <a:extLst>
              <a:ext uri="{FF2B5EF4-FFF2-40B4-BE49-F238E27FC236}">
                <a16:creationId xmlns:a16="http://schemas.microsoft.com/office/drawing/2014/main" id="{95F1DE4D-94C4-CCFA-151F-5E936BD3BE18}"/>
              </a:ext>
            </a:extLst>
          </p:cNvPr>
          <p:cNvSpPr txBox="1"/>
          <p:nvPr/>
        </p:nvSpPr>
        <p:spPr>
          <a:xfrm>
            <a:off x="6350000" y="4305300"/>
            <a:ext cx="46736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- Cloud-only office competitors
- Vendor API lock-in</a:t>
            </a:r>
            <a:endParaRPr lang="fr-F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47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1C66502A-D2C1-F7E0-4F99-14FCBA3CAEA2}"/>
              </a:ext>
            </a:extLst>
          </p:cNvPr>
          <p:cNvSpPr txBox="1"/>
          <p:nvPr/>
        </p:nvSpPr>
        <p:spPr>
          <a:xfrm>
            <a:off x="1016000" y="5715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Enterprise Customer Conversion Funnel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9795C7F-7361-1C0A-78F7-BBCFB72F1E7E}"/>
              </a:ext>
            </a:extLst>
          </p:cNvPr>
          <p:cNvSpPr/>
          <p:nvPr/>
        </p:nvSpPr>
        <p:spPr>
          <a:xfrm>
            <a:off x="1524000" y="1587500"/>
            <a:ext cx="9144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AB2D0CD-24EA-D388-FE77-38CB05287CD1}"/>
              </a:ext>
            </a:extLst>
          </p:cNvPr>
          <p:cNvSpPr/>
          <p:nvPr/>
        </p:nvSpPr>
        <p:spPr>
          <a:xfrm>
            <a:off x="1524000" y="1587500"/>
            <a:ext cx="76200" cy="10160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BFCDBB8B-3546-DDBE-7B72-F1D6B65F6351}"/>
              </a:ext>
            </a:extLst>
          </p:cNvPr>
          <p:cNvSpPr txBox="1"/>
          <p:nvPr/>
        </p:nvSpPr>
        <p:spPr>
          <a:xfrm>
            <a:off x="1727200" y="1943100"/>
            <a:ext cx="4114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0F172A"/>
                </a:solidFill>
                <a:latin typeface="Segoe UI" panose="020B0502040204020203" pitchFamily="34" charset="0"/>
              </a:rPr>
              <a:t>Developer Reach</a:t>
            </a: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63AAD665-9F9D-0951-6FC1-3967F2E9B7CA}"/>
              </a:ext>
            </a:extLst>
          </p:cNvPr>
          <p:cNvSpPr txBox="1"/>
          <p:nvPr/>
        </p:nvSpPr>
        <p:spPr>
          <a:xfrm>
            <a:off x="5913120" y="1943100"/>
            <a:ext cx="256032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300" b="1">
                <a:solidFill>
                  <a:srgbClr val="2563EB"/>
                </a:solidFill>
                <a:latin typeface="Segoe UI" panose="020B0502040204020203" pitchFamily="34" charset="0"/>
              </a:rPr>
              <a:t>150,000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181028-BF74-2519-B53B-7EAA8DE9CC6F}"/>
              </a:ext>
            </a:extLst>
          </p:cNvPr>
          <p:cNvSpPr/>
          <p:nvPr/>
        </p:nvSpPr>
        <p:spPr>
          <a:xfrm>
            <a:off x="9728200" y="1955800"/>
            <a:ext cx="762000" cy="279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2563EB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903114E-B44C-9B4F-26AB-409B03C0E198}"/>
              </a:ext>
            </a:extLst>
          </p:cNvPr>
          <p:cNvSpPr/>
          <p:nvPr/>
        </p:nvSpPr>
        <p:spPr>
          <a:xfrm>
            <a:off x="2164080" y="2730500"/>
            <a:ext cx="786384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D79402E-F02A-55C3-1C52-6EB778240EAF}"/>
              </a:ext>
            </a:extLst>
          </p:cNvPr>
          <p:cNvSpPr/>
          <p:nvPr/>
        </p:nvSpPr>
        <p:spPr>
          <a:xfrm>
            <a:off x="2164080" y="2730500"/>
            <a:ext cx="76200" cy="10160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550ABA1C-FE4F-8408-2D60-C0D6009F2768}"/>
              </a:ext>
            </a:extLst>
          </p:cNvPr>
          <p:cNvSpPr txBox="1"/>
          <p:nvPr/>
        </p:nvSpPr>
        <p:spPr>
          <a:xfrm>
            <a:off x="2367280" y="3086100"/>
            <a:ext cx="3538728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0F172A"/>
                </a:solidFill>
                <a:latin typeface="Segoe UI" panose="020B0502040204020203" pitchFamily="34" charset="0"/>
              </a:rPr>
              <a:t>CLI &amp; MCP Installs</a:t>
            </a:r>
          </a:p>
        </p:txBody>
      </p:sp>
      <p:sp useBgFill="1">
        <p:nvSpPr>
          <p:cNvPr id="11" name="ZoneTexte 10">
            <a:extLst>
              <a:ext uri="{FF2B5EF4-FFF2-40B4-BE49-F238E27FC236}">
                <a16:creationId xmlns:a16="http://schemas.microsoft.com/office/drawing/2014/main" id="{6A794687-AA51-8287-71F0-414B41FBA6AA}"/>
              </a:ext>
            </a:extLst>
          </p:cNvPr>
          <p:cNvSpPr txBox="1"/>
          <p:nvPr/>
        </p:nvSpPr>
        <p:spPr>
          <a:xfrm>
            <a:off x="5938723" y="3086100"/>
            <a:ext cx="2201875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300" b="1">
                <a:solidFill>
                  <a:srgbClr val="2563EB"/>
                </a:solidFill>
                <a:latin typeface="Segoe UI" panose="020B0502040204020203" pitchFamily="34" charset="0"/>
              </a:rPr>
              <a:t>38,500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5A314E0-842D-28E5-229D-D38CE423E8BD}"/>
              </a:ext>
            </a:extLst>
          </p:cNvPr>
          <p:cNvSpPr/>
          <p:nvPr/>
        </p:nvSpPr>
        <p:spPr>
          <a:xfrm>
            <a:off x="9088120" y="3098800"/>
            <a:ext cx="762000" cy="279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2563EB"/>
                </a:solidFill>
                <a:latin typeface="Segoe UI" panose="020B0502040204020203" pitchFamily="34" charset="0"/>
              </a:rPr>
              <a:t>25.6%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1FBD106-DDA5-50EE-683E-272B18FF9C17}"/>
              </a:ext>
            </a:extLst>
          </p:cNvPr>
          <p:cNvSpPr/>
          <p:nvPr/>
        </p:nvSpPr>
        <p:spPr>
          <a:xfrm>
            <a:off x="2804160" y="3873500"/>
            <a:ext cx="658368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3C49E41-C04F-C5DB-48A4-15AB017E5973}"/>
              </a:ext>
            </a:extLst>
          </p:cNvPr>
          <p:cNvSpPr/>
          <p:nvPr/>
        </p:nvSpPr>
        <p:spPr>
          <a:xfrm>
            <a:off x="2804160" y="3873500"/>
            <a:ext cx="76200" cy="10160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15" name="ZoneTexte 14">
            <a:extLst>
              <a:ext uri="{FF2B5EF4-FFF2-40B4-BE49-F238E27FC236}">
                <a16:creationId xmlns:a16="http://schemas.microsoft.com/office/drawing/2014/main" id="{7AC5B251-0311-37B8-557F-96153E1A80A6}"/>
              </a:ext>
            </a:extLst>
          </p:cNvPr>
          <p:cNvSpPr txBox="1"/>
          <p:nvPr/>
        </p:nvSpPr>
        <p:spPr>
          <a:xfrm>
            <a:off x="3007360" y="4229100"/>
            <a:ext cx="2962656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0F172A"/>
                </a:solidFill>
                <a:latin typeface="Segoe UI" panose="020B0502040204020203" pitchFamily="34" charset="0"/>
              </a:rPr>
              <a:t>Active Teams</a:t>
            </a:r>
          </a:p>
        </p:txBody>
      </p:sp>
      <p:sp useBgFill="1">
        <p:nvSpPr>
          <p:cNvPr id="16" name="ZoneTexte 15">
            <a:extLst>
              <a:ext uri="{FF2B5EF4-FFF2-40B4-BE49-F238E27FC236}">
                <a16:creationId xmlns:a16="http://schemas.microsoft.com/office/drawing/2014/main" id="{32F9444D-6451-E06F-8137-F1D24012D794}"/>
              </a:ext>
            </a:extLst>
          </p:cNvPr>
          <p:cNvSpPr txBox="1"/>
          <p:nvPr/>
        </p:nvSpPr>
        <p:spPr>
          <a:xfrm>
            <a:off x="5964326" y="4229100"/>
            <a:ext cx="184343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300" b="1">
                <a:solidFill>
                  <a:srgbClr val="2563EB"/>
                </a:solidFill>
                <a:latin typeface="Segoe UI" panose="020B0502040204020203" pitchFamily="34" charset="0"/>
              </a:rPr>
              <a:t>9,200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5D2446D-0C0D-1E16-1540-11D5DD1390E6}"/>
              </a:ext>
            </a:extLst>
          </p:cNvPr>
          <p:cNvSpPr/>
          <p:nvPr/>
        </p:nvSpPr>
        <p:spPr>
          <a:xfrm>
            <a:off x="8448040" y="4241800"/>
            <a:ext cx="762000" cy="279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2563EB"/>
                </a:solidFill>
                <a:latin typeface="Segoe UI" panose="020B0502040204020203" pitchFamily="34" charset="0"/>
              </a:rPr>
              <a:t>6.1%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2707811-40B8-7851-810C-BBCE80EAC13D}"/>
              </a:ext>
            </a:extLst>
          </p:cNvPr>
          <p:cNvSpPr/>
          <p:nvPr/>
        </p:nvSpPr>
        <p:spPr>
          <a:xfrm>
            <a:off x="3444240" y="5016500"/>
            <a:ext cx="5303521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9F86B46-72C2-5EF7-C738-D4BE1F91526D}"/>
              </a:ext>
            </a:extLst>
          </p:cNvPr>
          <p:cNvSpPr/>
          <p:nvPr/>
        </p:nvSpPr>
        <p:spPr>
          <a:xfrm>
            <a:off x="3444240" y="5016500"/>
            <a:ext cx="76200" cy="10160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20" name="ZoneTexte 19">
            <a:extLst>
              <a:ext uri="{FF2B5EF4-FFF2-40B4-BE49-F238E27FC236}">
                <a16:creationId xmlns:a16="http://schemas.microsoft.com/office/drawing/2014/main" id="{478A0A52-09CE-D53F-853E-C4CF82D1F3CC}"/>
              </a:ext>
            </a:extLst>
          </p:cNvPr>
          <p:cNvSpPr txBox="1"/>
          <p:nvPr/>
        </p:nvSpPr>
        <p:spPr>
          <a:xfrm>
            <a:off x="3647440" y="5372100"/>
            <a:ext cx="2386584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0F172A"/>
                </a:solidFill>
                <a:latin typeface="Segoe UI" panose="020B0502040204020203" pitchFamily="34" charset="0"/>
              </a:rPr>
              <a:t>Enterprise Contracts</a:t>
            </a:r>
          </a:p>
        </p:txBody>
      </p:sp>
      <p:sp useBgFill="1">
        <p:nvSpPr>
          <p:cNvPr id="21" name="ZoneTexte 20">
            <a:extLst>
              <a:ext uri="{FF2B5EF4-FFF2-40B4-BE49-F238E27FC236}">
                <a16:creationId xmlns:a16="http://schemas.microsoft.com/office/drawing/2014/main" id="{98DE6C6B-75B7-55C4-AE65-4F30EC1FFC05}"/>
              </a:ext>
            </a:extLst>
          </p:cNvPr>
          <p:cNvSpPr txBox="1"/>
          <p:nvPr/>
        </p:nvSpPr>
        <p:spPr>
          <a:xfrm>
            <a:off x="5989930" y="5372100"/>
            <a:ext cx="1484986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300" b="1">
                <a:solidFill>
                  <a:srgbClr val="2563EB"/>
                </a:solidFill>
                <a:latin typeface="Segoe UI" panose="020B0502040204020203" pitchFamily="34" charset="0"/>
              </a:rPr>
              <a:t>1,850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D83E7AA1-B244-AE28-63A2-F92D17EC4D25}"/>
              </a:ext>
            </a:extLst>
          </p:cNvPr>
          <p:cNvSpPr/>
          <p:nvPr/>
        </p:nvSpPr>
        <p:spPr>
          <a:xfrm>
            <a:off x="7807960" y="5384800"/>
            <a:ext cx="762000" cy="279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2563EB"/>
                </a:solidFill>
                <a:latin typeface="Segoe UI" panose="020B0502040204020203" pitchFamily="34" charset="0"/>
              </a:rPr>
              <a:t>1.2%</a:t>
            </a:r>
          </a:p>
        </p:txBody>
      </p:sp>
    </p:spTree>
    <p:extLst>
      <p:ext uri="{BB962C8B-B14F-4D97-AF65-F5344CB8AC3E}">
        <p14:creationId xmlns:p14="http://schemas.microsoft.com/office/powerpoint/2010/main" val="12561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B60181D7-A687-4FAA-A736-7D9F2A598A62}"/>
              </a:ext>
            </a:extLst>
          </p:cNvPr>
          <p:cNvSpPr txBox="1"/>
          <p:nvPr/>
        </p:nvSpPr>
        <p:spPr>
          <a:xfrm>
            <a:off x="1016000" y="5715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Workflow Transformation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2F5D7C5-5401-6DDE-8B19-4DE47BFAD033}"/>
              </a:ext>
            </a:extLst>
          </p:cNvPr>
          <p:cNvSpPr/>
          <p:nvPr/>
        </p:nvSpPr>
        <p:spPr>
          <a:xfrm>
            <a:off x="1016000" y="1587500"/>
            <a:ext cx="4699000" cy="4445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F9FD98B-A7B6-92A6-3305-9F687FFEB4FC}"/>
              </a:ext>
            </a:extLst>
          </p:cNvPr>
          <p:cNvSpPr/>
          <p:nvPr/>
        </p:nvSpPr>
        <p:spPr>
          <a:xfrm>
            <a:off x="1244600" y="1790700"/>
            <a:ext cx="952500" cy="254000"/>
          </a:xfrm>
          <a:prstGeom prst="round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BEFORE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ADFD5BCA-9224-DCBF-29B2-E54A6771CE8C}"/>
              </a:ext>
            </a:extLst>
          </p:cNvPr>
          <p:cNvSpPr txBox="1"/>
          <p:nvPr/>
        </p:nvSpPr>
        <p:spPr>
          <a:xfrm>
            <a:off x="1244600" y="2120900"/>
            <a:ext cx="4241800" cy="338554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600" b="1">
                <a:solidFill>
                  <a:srgbClr val="991B1B"/>
                </a:solidFill>
                <a:latin typeface="Segoe UI" panose="020B0502040204020203" pitchFamily="34" charset="0"/>
              </a:rPr>
              <a:t>Manual Slide Crafting</a:t>
            </a: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64A5ED17-616B-A35C-029F-BA7143BDF848}"/>
              </a:ext>
            </a:extLst>
          </p:cNvPr>
          <p:cNvSpPr txBox="1"/>
          <p:nvPr/>
        </p:nvSpPr>
        <p:spPr>
          <a:xfrm>
            <a:off x="1244600" y="2603500"/>
            <a:ext cx="4241800" cy="1015663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7F1D1D"/>
                </a:solidFill>
                <a:latin typeface="Segoe UI" panose="020B0502040204020203" pitchFamily="34" charset="0"/>
              </a:rPr>
              <a:t>- Hours spent aligning rectangles &amp; fonts
- Inconsistent branding &amp; colors
- Stale data copy-pasted from spreadsheets</a:t>
            </a:r>
            <a:endParaRPr lang="fr-FR" sz="1200">
              <a:solidFill>
                <a:srgbClr val="7F1D1D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Cylindre 6">
            <a:extLst>
              <a:ext uri="{FF2B5EF4-FFF2-40B4-BE49-F238E27FC236}">
                <a16:creationId xmlns:a16="http://schemas.microsoft.com/office/drawing/2014/main" id="{216B7B6F-A105-2DC7-43D8-D0A5399CAE1E}"/>
              </a:ext>
            </a:extLst>
          </p:cNvPr>
          <p:cNvSpPr/>
          <p:nvPr/>
        </p:nvSpPr>
        <p:spPr>
          <a:xfrm>
            <a:off x="5867400" y="3619500"/>
            <a:ext cx="457200" cy="381000"/>
          </a:xfrm>
          <a:prstGeom prst="can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DD59555-C49A-F40D-7223-6EAB6611C652}"/>
              </a:ext>
            </a:extLst>
          </p:cNvPr>
          <p:cNvSpPr/>
          <p:nvPr/>
        </p:nvSpPr>
        <p:spPr>
          <a:xfrm>
            <a:off x="6477000" y="1587500"/>
            <a:ext cx="4699000" cy="4445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817AE72-3E90-189C-48A2-8F9BBD664626}"/>
              </a:ext>
            </a:extLst>
          </p:cNvPr>
          <p:cNvSpPr/>
          <p:nvPr/>
        </p:nvSpPr>
        <p:spPr>
          <a:xfrm>
            <a:off x="6705600" y="1790700"/>
            <a:ext cx="825500" cy="2540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AFTER</a:t>
            </a:r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080D825B-70DB-5A96-B0E0-52839502A9E8}"/>
              </a:ext>
            </a:extLst>
          </p:cNvPr>
          <p:cNvSpPr txBox="1"/>
          <p:nvPr/>
        </p:nvSpPr>
        <p:spPr>
          <a:xfrm>
            <a:off x="6705600" y="2120900"/>
            <a:ext cx="4241800" cy="338554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600" b="1">
                <a:solidFill>
                  <a:srgbClr val="065F46"/>
                </a:solidFill>
                <a:latin typeface="Segoe UI" panose="020B0502040204020203" pitchFamily="34" charset="0"/>
              </a:rPr>
              <a:t>PowerPoint Live MCP</a:t>
            </a:r>
          </a:p>
        </p:txBody>
      </p:sp>
      <p:sp useBgFill="1">
        <p:nvSpPr>
          <p:cNvPr id="11" name="ZoneTexte 10">
            <a:extLst>
              <a:ext uri="{FF2B5EF4-FFF2-40B4-BE49-F238E27FC236}">
                <a16:creationId xmlns:a16="http://schemas.microsoft.com/office/drawing/2014/main" id="{73959534-2651-BF21-21B9-C438C27EA88E}"/>
              </a:ext>
            </a:extLst>
          </p:cNvPr>
          <p:cNvSpPr txBox="1"/>
          <p:nvPr/>
        </p:nvSpPr>
        <p:spPr>
          <a:xfrm>
            <a:off x="6705600" y="2603500"/>
            <a:ext cx="4241800" cy="1015663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fr-FR" sz="1200">
                <a:solidFill>
                  <a:srgbClr val="064E3B"/>
                </a:solidFill>
                <a:latin typeface="Segoe UI" panose="020B0502040204020203" pitchFamily="34" charset="0"/>
              </a:rPr>
              <a:t>+ Autonomous generation via Claude &amp; Antigravity
+ Pixel-perfect modern visual cards
+ Live programmatic data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03717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8CF855D4-959A-708B-A38C-530E79C855E9}"/>
              </a:ext>
            </a:extLst>
          </p:cNvPr>
          <p:cNvSpPr txBox="1"/>
          <p:nvPr/>
        </p:nvSpPr>
        <p:spPr>
          <a:xfrm>
            <a:off x="1016000" y="5715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Impact Metrics &amp; Customer Trust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55E8759-44A7-731D-7745-B417C921721D}"/>
              </a:ext>
            </a:extLst>
          </p:cNvPr>
          <p:cNvSpPr/>
          <p:nvPr/>
        </p:nvSpPr>
        <p:spPr>
          <a:xfrm>
            <a:off x="1016000" y="1651000"/>
            <a:ext cx="4826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8EDBEA6-6FBC-25CD-0BC9-0D218D3641F9}"/>
              </a:ext>
            </a:extLst>
          </p:cNvPr>
          <p:cNvSpPr/>
          <p:nvPr/>
        </p:nvSpPr>
        <p:spPr>
          <a:xfrm>
            <a:off x="1066800" y="1676400"/>
            <a:ext cx="4724400" cy="508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BC9E38EA-F8D5-724F-21A8-88C21445FA2F}"/>
              </a:ext>
            </a:extLst>
          </p:cNvPr>
          <p:cNvSpPr txBox="1"/>
          <p:nvPr/>
        </p:nvSpPr>
        <p:spPr>
          <a:xfrm>
            <a:off x="1270000" y="1930400"/>
            <a:ext cx="4318000" cy="76944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4400" b="1">
                <a:solidFill>
                  <a:srgbClr val="0F172A"/>
                </a:solidFill>
                <a:latin typeface="Segoe UI" panose="020B0502040204020203" pitchFamily="34" charset="0"/>
              </a:rPr>
              <a:t>+380%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ADBE349-8186-BCC3-BF61-99A8BF6E6405}"/>
              </a:ext>
            </a:extLst>
          </p:cNvPr>
          <p:cNvSpPr/>
          <p:nvPr/>
        </p:nvSpPr>
        <p:spPr>
          <a:xfrm>
            <a:off x="1270000" y="2794000"/>
            <a:ext cx="1778000" cy="304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10B981"/>
                </a:solidFill>
                <a:latin typeface="Segoe UI" panose="020B0502040204020203" pitchFamily="34" charset="0"/>
              </a:rPr>
              <a:t>▲ 4.8x Acceleration</a:t>
            </a:r>
          </a:p>
        </p:txBody>
      </p:sp>
      <p:sp useBgFill="1">
        <p:nvSpPr>
          <p:cNvPr id="7" name="ZoneTexte 6">
            <a:extLst>
              <a:ext uri="{FF2B5EF4-FFF2-40B4-BE49-F238E27FC236}">
                <a16:creationId xmlns:a16="http://schemas.microsoft.com/office/drawing/2014/main" id="{6664EEBC-CD08-FA7D-05A0-60BDB552B9F2}"/>
              </a:ext>
            </a:extLst>
          </p:cNvPr>
          <p:cNvSpPr txBox="1"/>
          <p:nvPr/>
        </p:nvSpPr>
        <p:spPr>
          <a:xfrm>
            <a:off x="1270000" y="3225800"/>
            <a:ext cx="4318000" cy="307777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400" b="1">
                <a:solidFill>
                  <a:srgbClr val="334155"/>
                </a:solidFill>
                <a:latin typeface="Segoe UI" panose="020B0502040204020203" pitchFamily="34" charset="0"/>
              </a:rPr>
              <a:t>Slide Production Velocity</a:t>
            </a:r>
          </a:p>
        </p:txBody>
      </p:sp>
      <p:sp useBgFill="1">
        <p:nvSpPr>
          <p:cNvPr id="8" name="ZoneTexte 7">
            <a:extLst>
              <a:ext uri="{FF2B5EF4-FFF2-40B4-BE49-F238E27FC236}">
                <a16:creationId xmlns:a16="http://schemas.microsoft.com/office/drawing/2014/main" id="{79C923E1-8607-674E-F19F-36DE13EBE37B}"/>
              </a:ext>
            </a:extLst>
          </p:cNvPr>
          <p:cNvSpPr txBox="1"/>
          <p:nvPr/>
        </p:nvSpPr>
        <p:spPr>
          <a:xfrm>
            <a:off x="1270000" y="3606800"/>
            <a:ext cx="4318000" cy="26161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Benchmarked across 1,200 enterprise presentations.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22EF684-264E-5DE4-F69A-AFFE4C4C5AED}"/>
              </a:ext>
            </a:extLst>
          </p:cNvPr>
          <p:cNvSpPr/>
          <p:nvPr/>
        </p:nvSpPr>
        <p:spPr>
          <a:xfrm>
            <a:off x="6350000" y="1651000"/>
            <a:ext cx="4826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DFC2660C-2C8B-CE8B-22C4-8C8740DAC2D7}"/>
              </a:ext>
            </a:extLst>
          </p:cNvPr>
          <p:cNvSpPr txBox="1"/>
          <p:nvPr/>
        </p:nvSpPr>
        <p:spPr>
          <a:xfrm>
            <a:off x="6604000" y="1854200"/>
            <a:ext cx="20320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F59E0B"/>
                </a:solidFill>
                <a:latin typeface="Segoe UI" panose="020B0502040204020203" pitchFamily="34" charset="0"/>
              </a:rPr>
              <a:t>★ ★ ★ ★ ★  (5.0/5.0)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8AE4149-BD56-DEE3-E84A-99BB3BB591CB}"/>
              </a:ext>
            </a:extLst>
          </p:cNvPr>
          <p:cNvSpPr/>
          <p:nvPr/>
        </p:nvSpPr>
        <p:spPr>
          <a:xfrm>
            <a:off x="9779000" y="1854200"/>
            <a:ext cx="1168400" cy="279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2563EB"/>
                </a:solidFill>
                <a:latin typeface="Segoe UI" panose="020B0502040204020203" pitchFamily="34" charset="0"/>
              </a:rPr>
              <a:t>G2 Best Software 2026</a:t>
            </a:r>
          </a:p>
        </p:txBody>
      </p:sp>
      <p:sp useBgFill="1">
        <p:nvSpPr>
          <p:cNvPr id="12" name="ZoneTexte 11">
            <a:extLst>
              <a:ext uri="{FF2B5EF4-FFF2-40B4-BE49-F238E27FC236}">
                <a16:creationId xmlns:a16="http://schemas.microsoft.com/office/drawing/2014/main" id="{28FC8938-BBED-6656-86C0-E9611C82F64C}"/>
              </a:ext>
            </a:extLst>
          </p:cNvPr>
          <p:cNvSpPr txBox="1"/>
          <p:nvPr/>
        </p:nvSpPr>
        <p:spPr>
          <a:xfrm>
            <a:off x="6604000" y="2260600"/>
            <a:ext cx="4318000" cy="46166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200" i="1">
                <a:solidFill>
                  <a:srgbClr val="334155"/>
                </a:solidFill>
                <a:latin typeface="Segoe UI" panose="020B0502040204020203" pitchFamily="34" charset="0"/>
              </a:rPr>
              <a:t>"PowerPoint Live MCP changed how our entire advisory team creates client decks. The live visual feedback is magical."</a:t>
            </a:r>
            <a:endParaRPr lang="fr-FR" sz="1200" i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07A343-A881-9A15-3040-9B283CB8A712}"/>
              </a:ext>
            </a:extLst>
          </p:cNvPr>
          <p:cNvSpPr/>
          <p:nvPr/>
        </p:nvSpPr>
        <p:spPr>
          <a:xfrm>
            <a:off x="6604000" y="3937000"/>
            <a:ext cx="4318000" cy="127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14" name="ZoneTexte 13">
            <a:extLst>
              <a:ext uri="{FF2B5EF4-FFF2-40B4-BE49-F238E27FC236}">
                <a16:creationId xmlns:a16="http://schemas.microsoft.com/office/drawing/2014/main" id="{BC067EFC-D4B5-C1DE-DD48-F387A7206404}"/>
              </a:ext>
            </a:extLst>
          </p:cNvPr>
          <p:cNvSpPr txBox="1"/>
          <p:nvPr/>
        </p:nvSpPr>
        <p:spPr>
          <a:xfrm>
            <a:off x="6604000" y="4038600"/>
            <a:ext cx="4318000" cy="261610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0F172A"/>
                </a:solidFill>
                <a:latin typeface="Segoe UI" panose="020B0502040204020203" pitchFamily="34" charset="0"/>
              </a:rPr>
              <a:t>David Vance - Managing Director, Tier-1 Advisory</a:t>
            </a:r>
            <a:endParaRPr lang="fr-FR" sz="11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4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AD5D2988-0D1B-7313-806E-E4361A7E6219}"/>
              </a:ext>
            </a:extLst>
          </p:cNvPr>
          <p:cNvSpPr txBox="1"/>
          <p:nvPr/>
        </p:nvSpPr>
        <p:spPr>
          <a:xfrm>
            <a:off x="1016000" y="5715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Frequently Asked Questions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C6E76009-50DB-4468-E07C-3CDF85A9177D}"/>
              </a:ext>
            </a:extLst>
          </p:cNvPr>
          <p:cNvSpPr/>
          <p:nvPr/>
        </p:nvSpPr>
        <p:spPr>
          <a:xfrm>
            <a:off x="1016000" y="1524000"/>
            <a:ext cx="10160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9F1F247-57F1-E528-A4AF-35F20FDA0E91}"/>
              </a:ext>
            </a:extLst>
          </p:cNvPr>
          <p:cNvSpPr/>
          <p:nvPr/>
        </p:nvSpPr>
        <p:spPr>
          <a:xfrm>
            <a:off x="1193800" y="16764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Segoe UI" panose="020B0502040204020203" pitchFamily="34" charset="0"/>
              </a:rPr>
              <a:t>Q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E464813F-8186-F0FF-28E9-E086887FFD17}"/>
              </a:ext>
            </a:extLst>
          </p:cNvPr>
          <p:cNvSpPr txBox="1"/>
          <p:nvPr/>
        </p:nvSpPr>
        <p:spPr>
          <a:xfrm>
            <a:off x="1600200" y="1651000"/>
            <a:ext cx="93980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How does live visibility work?</a:t>
            </a:r>
            <a:endParaRPr lang="fr-FR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DA697B4F-3A5C-7A2E-218D-0B18ED2BA893}"/>
              </a:ext>
            </a:extLst>
          </p:cNvPr>
          <p:cNvSpPr txBox="1"/>
          <p:nvPr/>
        </p:nvSpPr>
        <p:spPr>
          <a:xfrm>
            <a:off x="1600200" y="1955800"/>
            <a:ext cx="9398000" cy="26161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The server connects via COM directly to PowerPoint.Application, rendering updates immediately in real-time.</a:t>
            </a:r>
            <a:endParaRPr lang="fr-FR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C73DDC2-C789-7F36-BD34-A1111939F097}"/>
              </a:ext>
            </a:extLst>
          </p:cNvPr>
          <p:cNvSpPr/>
          <p:nvPr/>
        </p:nvSpPr>
        <p:spPr>
          <a:xfrm>
            <a:off x="1016000" y="3098800"/>
            <a:ext cx="10160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74E507F-B952-5611-75E2-5C19EF10A490}"/>
              </a:ext>
            </a:extLst>
          </p:cNvPr>
          <p:cNvSpPr/>
          <p:nvPr/>
        </p:nvSpPr>
        <p:spPr>
          <a:xfrm>
            <a:off x="1193800" y="32512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Segoe UI" panose="020B0502040204020203" pitchFamily="34" charset="0"/>
              </a:rPr>
              <a:t>Q</a:t>
            </a:r>
          </a:p>
        </p:txBody>
      </p:sp>
      <p:sp useBgFill="1">
        <p:nvSpPr>
          <p:cNvPr id="9" name="ZoneTexte 8">
            <a:extLst>
              <a:ext uri="{FF2B5EF4-FFF2-40B4-BE49-F238E27FC236}">
                <a16:creationId xmlns:a16="http://schemas.microsoft.com/office/drawing/2014/main" id="{8C9A288F-2904-A2E0-35ED-2BD989C165EA}"/>
              </a:ext>
            </a:extLst>
          </p:cNvPr>
          <p:cNvSpPr txBox="1"/>
          <p:nvPr/>
        </p:nvSpPr>
        <p:spPr>
          <a:xfrm>
            <a:off x="1600200" y="3225800"/>
            <a:ext cx="93980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Which AI models and clients are supported?</a:t>
            </a:r>
            <a:endParaRPr lang="fr-FR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E803954D-E098-1253-4958-456FA29AA4B0}"/>
              </a:ext>
            </a:extLst>
          </p:cNvPr>
          <p:cNvSpPr txBox="1"/>
          <p:nvPr/>
        </p:nvSpPr>
        <p:spPr>
          <a:xfrm>
            <a:off x="1600200" y="3530600"/>
            <a:ext cx="9398000" cy="26161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All MCP-compliant clients including Antigravity, Claude Desktop, Cursor, and Codex.</a:t>
            </a:r>
            <a:endParaRPr lang="fr-FR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DFEA930-E831-C8F5-BDB4-FB0ED4A882AA}"/>
              </a:ext>
            </a:extLst>
          </p:cNvPr>
          <p:cNvSpPr/>
          <p:nvPr/>
        </p:nvSpPr>
        <p:spPr>
          <a:xfrm>
            <a:off x="1016000" y="4673600"/>
            <a:ext cx="10160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20CE3E7-13C4-CD51-A24E-9598EF7A3A80}"/>
              </a:ext>
            </a:extLst>
          </p:cNvPr>
          <p:cNvSpPr/>
          <p:nvPr/>
        </p:nvSpPr>
        <p:spPr>
          <a:xfrm>
            <a:off x="1193800" y="4826000"/>
            <a:ext cx="304800" cy="304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FFFFFF"/>
                </a:solidFill>
                <a:latin typeface="Segoe UI" panose="020B0502040204020203" pitchFamily="34" charset="0"/>
              </a:rPr>
              <a:t>Q</a:t>
            </a:r>
          </a:p>
        </p:txBody>
      </p:sp>
      <p:sp useBgFill="1">
        <p:nvSpPr>
          <p:cNvPr id="13" name="ZoneTexte 12">
            <a:extLst>
              <a:ext uri="{FF2B5EF4-FFF2-40B4-BE49-F238E27FC236}">
                <a16:creationId xmlns:a16="http://schemas.microsoft.com/office/drawing/2014/main" id="{45CBD65B-71B6-2B1C-DED4-B3CDA13F74AC}"/>
              </a:ext>
            </a:extLst>
          </p:cNvPr>
          <p:cNvSpPr txBox="1"/>
          <p:nvPr/>
        </p:nvSpPr>
        <p:spPr>
          <a:xfrm>
            <a:off x="1600200" y="4800600"/>
            <a:ext cx="93980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F172A"/>
                </a:solidFill>
                <a:latin typeface="Segoe UI" panose="020B0502040204020203" pitchFamily="34" charset="0"/>
              </a:rPr>
              <a:t>Can I export presentations as PDF or high-res images?</a:t>
            </a:r>
            <a:endParaRPr lang="fr-FR" sz="13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14" name="ZoneTexte 13">
            <a:extLst>
              <a:ext uri="{FF2B5EF4-FFF2-40B4-BE49-F238E27FC236}">
                <a16:creationId xmlns:a16="http://schemas.microsoft.com/office/drawing/2014/main" id="{1287174A-0938-93A6-A4DD-EC3F5D70CFF4}"/>
              </a:ext>
            </a:extLst>
          </p:cNvPr>
          <p:cNvSpPr txBox="1"/>
          <p:nvPr/>
        </p:nvSpPr>
        <p:spPr>
          <a:xfrm>
            <a:off x="1600200" y="5105400"/>
            <a:ext cx="9398000" cy="26161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Yes, ppt_save supports .pdf and ppt_export_slide_image exports crisp 1080p/4K PNGs.</a:t>
            </a:r>
            <a:endParaRPr lang="fr-FR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09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892F3DC6-F5AF-52D5-6F93-0327BEFE9983}"/>
              </a:ext>
            </a:extLst>
          </p:cNvPr>
          <p:cNvSpPr txBox="1"/>
          <p:nvPr/>
        </p:nvSpPr>
        <p:spPr>
          <a:xfrm>
            <a:off x="1016000" y="571500"/>
            <a:ext cx="10160000" cy="636072"/>
          </a:xfrm>
          <a:prstGeom prst="rect">
            <a:avLst/>
          </a:prstGeom>
          <a:ln w="19050">
            <a:solidFill>
              <a:srgbClr val="2563EB"/>
            </a:solidFill>
          </a:ln>
          <a:effectLst>
            <a:outerShdw blurRad="63500" dist="37357" dir="2700000" rotWithShape="0">
              <a:scrgbClr r="0" g="0" b="0"/>
            </a:outerShdw>
          </a:effectLst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Enterprise Release Checklist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954885A-2B4B-A6E4-0650-6322DE6C41E0}"/>
              </a:ext>
            </a:extLst>
          </p:cNvPr>
          <p:cNvSpPr/>
          <p:nvPr/>
        </p:nvSpPr>
        <p:spPr>
          <a:xfrm>
            <a:off x="1016000" y="1587500"/>
            <a:ext cx="10160000" cy="984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0882A62-2450-97F6-52BD-64A32783548D}"/>
              </a:ext>
            </a:extLst>
          </p:cNvPr>
          <p:cNvSpPr/>
          <p:nvPr/>
        </p:nvSpPr>
        <p:spPr>
          <a:xfrm>
            <a:off x="1193800" y="1914525"/>
            <a:ext cx="406400" cy="330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10B981"/>
                </a:solidFill>
                <a:latin typeface="Segoe UI" panose="020B0502040204020203" pitchFamily="34" charset="0"/>
              </a:rPr>
              <a:t>[v]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ECB95E07-BD82-0732-EAE8-95AB3B7C3286}"/>
              </a:ext>
            </a:extLst>
          </p:cNvPr>
          <p:cNvSpPr txBox="1"/>
          <p:nvPr/>
        </p:nvSpPr>
        <p:spPr>
          <a:xfrm>
            <a:off x="1727200" y="1927225"/>
            <a:ext cx="78740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pt-BR" sz="1200" b="1">
                <a:solidFill>
                  <a:srgbClr val="0F172A"/>
                </a:solidFill>
                <a:latin typeface="Segoe UI" panose="020B0502040204020203" pitchFamily="34" charset="0"/>
              </a:rPr>
              <a:t>FastMCP Server Core &amp; COM Controller</a:t>
            </a:r>
            <a:endParaRPr lang="fr-FR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704E371-3ECE-477E-B4BA-2B1C946DAEE6}"/>
              </a:ext>
            </a:extLst>
          </p:cNvPr>
          <p:cNvSpPr/>
          <p:nvPr/>
        </p:nvSpPr>
        <p:spPr>
          <a:xfrm>
            <a:off x="9779000" y="1939925"/>
            <a:ext cx="1206500" cy="2794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10B981"/>
                </a:solidFill>
                <a:latin typeface="Segoe UI" panose="020B0502040204020203" pitchFamily="34" charset="0"/>
              </a:rPr>
              <a:t>VERIFIED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7D087FF-0148-DAEF-009E-9424C10BDB98}"/>
              </a:ext>
            </a:extLst>
          </p:cNvPr>
          <p:cNvSpPr/>
          <p:nvPr/>
        </p:nvSpPr>
        <p:spPr>
          <a:xfrm>
            <a:off x="1016000" y="2698750"/>
            <a:ext cx="10160000" cy="984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C32B0C9-4AEE-A48A-7784-A2B589497777}"/>
              </a:ext>
            </a:extLst>
          </p:cNvPr>
          <p:cNvSpPr/>
          <p:nvPr/>
        </p:nvSpPr>
        <p:spPr>
          <a:xfrm>
            <a:off x="1193800" y="3025775"/>
            <a:ext cx="406400" cy="330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10B981"/>
                </a:solidFill>
                <a:latin typeface="Segoe UI" panose="020B0502040204020203" pitchFamily="34" charset="0"/>
              </a:rPr>
              <a:t>[v]</a:t>
            </a:r>
          </a:p>
        </p:txBody>
      </p:sp>
      <p:sp useBgFill="1">
        <p:nvSpPr>
          <p:cNvPr id="9" name="ZoneTexte 8">
            <a:extLst>
              <a:ext uri="{FF2B5EF4-FFF2-40B4-BE49-F238E27FC236}">
                <a16:creationId xmlns:a16="http://schemas.microsoft.com/office/drawing/2014/main" id="{36DE1927-2D42-31F7-FEAC-F28ABF2F0F80}"/>
              </a:ext>
            </a:extLst>
          </p:cNvPr>
          <p:cNvSpPr txBox="1"/>
          <p:nvPr/>
        </p:nvSpPr>
        <p:spPr>
          <a:xfrm>
            <a:off x="1727200" y="3038475"/>
            <a:ext cx="78740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0F172A"/>
                </a:solidFill>
                <a:latin typeface="Segoe UI" panose="020B0502040204020203" pitchFamily="34" charset="0"/>
              </a:rPr>
              <a:t>56+ Visual Widgets &amp; Charts Implementation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1D07C4C-D292-DAF9-A2E5-FF6445E8F3CB}"/>
              </a:ext>
            </a:extLst>
          </p:cNvPr>
          <p:cNvSpPr/>
          <p:nvPr/>
        </p:nvSpPr>
        <p:spPr>
          <a:xfrm>
            <a:off x="9779000" y="3051175"/>
            <a:ext cx="1206500" cy="2794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10B981"/>
                </a:solidFill>
                <a:latin typeface="Segoe UI" panose="020B0502040204020203" pitchFamily="34" charset="0"/>
              </a:rPr>
              <a:t>SHIPPED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9D32A5C-66E2-1C12-D158-F685F02D1D47}"/>
              </a:ext>
            </a:extLst>
          </p:cNvPr>
          <p:cNvSpPr/>
          <p:nvPr/>
        </p:nvSpPr>
        <p:spPr>
          <a:xfrm>
            <a:off x="1016000" y="3810000"/>
            <a:ext cx="10160000" cy="984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ACA3FFF-712B-4C78-1D7E-CFE0A876DCD7}"/>
              </a:ext>
            </a:extLst>
          </p:cNvPr>
          <p:cNvSpPr/>
          <p:nvPr/>
        </p:nvSpPr>
        <p:spPr>
          <a:xfrm>
            <a:off x="1193800" y="4137025"/>
            <a:ext cx="406400" cy="330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10B981"/>
                </a:solidFill>
                <a:latin typeface="Segoe UI" panose="020B0502040204020203" pitchFamily="34" charset="0"/>
              </a:rPr>
              <a:t>[v]</a:t>
            </a:r>
          </a:p>
        </p:txBody>
      </p:sp>
      <p:sp useBgFill="1">
        <p:nvSpPr>
          <p:cNvPr id="13" name="ZoneTexte 12">
            <a:extLst>
              <a:ext uri="{FF2B5EF4-FFF2-40B4-BE49-F238E27FC236}">
                <a16:creationId xmlns:a16="http://schemas.microsoft.com/office/drawing/2014/main" id="{D8D953A2-66DE-5ECA-F37D-9EBFAC1895C8}"/>
              </a:ext>
            </a:extLst>
          </p:cNvPr>
          <p:cNvSpPr txBox="1"/>
          <p:nvPr/>
        </p:nvSpPr>
        <p:spPr>
          <a:xfrm>
            <a:off x="1727200" y="4149725"/>
            <a:ext cx="78740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0F172A"/>
                </a:solidFill>
                <a:latin typeface="Segoe UI" panose="020B0502040204020203" pitchFamily="34" charset="0"/>
              </a:rPr>
              <a:t>Live Slideshow &amp; Navigation Controls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DBC3CE1-CFAC-5F42-D786-78E95D898FCD}"/>
              </a:ext>
            </a:extLst>
          </p:cNvPr>
          <p:cNvSpPr/>
          <p:nvPr/>
        </p:nvSpPr>
        <p:spPr>
          <a:xfrm>
            <a:off x="9779000" y="4162425"/>
            <a:ext cx="1206500" cy="2794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10B981"/>
                </a:solidFill>
                <a:latin typeface="Segoe UI" panose="020B0502040204020203" pitchFamily="34" charset="0"/>
              </a:rPr>
              <a:t>READY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95E8247-FC3B-4387-0430-38B6ED1FD831}"/>
              </a:ext>
            </a:extLst>
          </p:cNvPr>
          <p:cNvSpPr/>
          <p:nvPr/>
        </p:nvSpPr>
        <p:spPr>
          <a:xfrm>
            <a:off x="1016000" y="4921250"/>
            <a:ext cx="10160000" cy="984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C6FF29F-835E-C688-D627-2552975637BA}"/>
              </a:ext>
            </a:extLst>
          </p:cNvPr>
          <p:cNvSpPr/>
          <p:nvPr/>
        </p:nvSpPr>
        <p:spPr>
          <a:xfrm>
            <a:off x="1193800" y="5248275"/>
            <a:ext cx="406400" cy="330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2563EB"/>
                </a:solidFill>
                <a:latin typeface="Segoe UI" panose="020B0502040204020203" pitchFamily="34" charset="0"/>
              </a:rPr>
              <a:t>[&gt;]</a:t>
            </a:r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812C1A78-ABB7-393F-68C2-55533FFB4786}"/>
              </a:ext>
            </a:extLst>
          </p:cNvPr>
          <p:cNvSpPr txBox="1"/>
          <p:nvPr/>
        </p:nvSpPr>
        <p:spPr>
          <a:xfrm>
            <a:off x="1727200" y="5260975"/>
            <a:ext cx="78740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0F172A"/>
                </a:solidFill>
                <a:latin typeface="Segoe UI" panose="020B0502040204020203" pitchFamily="34" charset="0"/>
              </a:rPr>
              <a:t>Multi-Tenant Enterprise Cloud Sync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B686D7B-1D5A-D192-7E3F-03DEB82E2E89}"/>
              </a:ext>
            </a:extLst>
          </p:cNvPr>
          <p:cNvSpPr/>
          <p:nvPr/>
        </p:nvSpPr>
        <p:spPr>
          <a:xfrm>
            <a:off x="9779000" y="5273675"/>
            <a:ext cx="1206500" cy="279400"/>
          </a:xfrm>
          <a:prstGeom prst="roundRect">
            <a:avLst/>
          </a:prstGeom>
          <a:solidFill>
            <a:srgbClr val="EFF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2563EB"/>
                </a:solidFill>
                <a:latin typeface="Segoe UI" panose="020B0502040204020203" pitchFamily="34" charset="0"/>
              </a:rPr>
              <a:t>Q1 2027</a:t>
            </a:r>
          </a:p>
        </p:txBody>
      </p:sp>
    </p:spTree>
    <p:extLst>
      <p:ext uri="{BB962C8B-B14F-4D97-AF65-F5344CB8AC3E}">
        <p14:creationId xmlns:p14="http://schemas.microsoft.com/office/powerpoint/2010/main" val="28894767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Personnalisé</PresentationFormat>
  <Paragraphs>65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Oussama OUNS</dc:creator>
  <cp:lastModifiedBy>Oussama OUNS</cp:lastModifiedBy>
  <cp:revision>1</cp:revision>
  <dcterms:created xsi:type="dcterms:W3CDTF">2026-10-18T13:34:53Z</dcterms:created>
  <dcterms:modified xsi:type="dcterms:W3CDTF">2026-10-18T13:34:53Z</dcterms:modified>
</cp:coreProperties>
</file>