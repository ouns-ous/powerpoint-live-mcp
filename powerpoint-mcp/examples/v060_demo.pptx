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93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35AC0A-66ED-0352-4E0D-D63E07DEF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609B79-E8C7-B414-699F-4EC96E741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E25083-6265-E62C-65B5-9B075B18A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77DD6B-2EFC-44FD-6DAC-50713699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E0AC5B-FBBB-58CE-26D0-DB8F0CE81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1379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190669-84B3-EE4F-E018-46CB41E6A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0BFA5E-29DA-56DC-6300-45388E2E9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A2CC84-DE14-2D5B-9832-2654B477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967704-F539-E1AC-6419-1A8631B6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9008C6-FA76-EA59-AD60-FF8F7B9D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26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0B52C-D55D-4EEB-C4F1-B43BF5886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E8DA28-588F-55AA-C018-620D8D887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E2738D-A84A-CA50-A377-AB88FFE3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6F0B97-3FCA-9E7B-2EE3-759E0208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28410B-BB9D-CACD-ED3F-9DDBD3EB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01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376E3E-A818-0C54-BF7B-9BD694A5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5505B7-A335-5AF3-C43F-7900580FF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9887C9-042B-9213-7A66-A9431FE04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FEA7AE-D261-07CA-FF26-DDF6F393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7D29D2-E4B0-6031-6624-AFA7C638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0E8234-2F84-FA21-E92A-1969502E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876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881681-E0CB-B1AA-9AD8-7CC3B4677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9D4607-F2A6-4590-81B4-F3794AE7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7FCED2-D676-CC3B-0FCB-85B5B783D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E503B0-3C46-C3E9-0814-EAD657E14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FF0B46F-49E4-5B9A-8424-4E7E48E2A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CDEB8E-761D-2800-3E8B-6485BD51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0660F0-BB47-BCE7-33D2-FC8BE221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C6BEC33-310D-5728-DA68-FEEB4B11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36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F98B3-BCDC-DC0B-F058-A8F430CA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FB22957-2D3F-B9CD-166B-2FF4BAD2D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FF5BD2-B0B4-39BA-36F2-D0E08F3C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B5FF92-A5D2-072C-E808-C2730AD35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809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E5621E-539A-FC73-6D31-D0690768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057C060-0D07-795E-E096-0D01EF84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7DB102-2E3E-7F95-B0BF-548FBD4A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61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75C02C-E977-188A-0140-D8E45A6E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5EF4B1-D7DB-1B63-6C6D-29BC3E60E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3D9C46-059E-0494-6702-D8210F9A9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DFA082-B2B8-F561-DD63-79748F74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39665B-8AA5-5D71-367C-3B0DAD69C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E343B7-6F43-D465-9F71-C86BE969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8324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DE0C8-C299-D431-2BEE-6C1BC3EDD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C77C760-D96D-5C46-1FAA-A9839964D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6AE7BD-1BF9-50C4-9FFB-B9433720A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4DE886-9154-5519-E2AC-6A479280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DDD3B4-76DB-49AF-1957-56B1BC779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BE6375-4E81-0133-B646-6BD4327D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964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D8B0C-B7E6-12C7-ACE9-06C2C6639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28266F-4001-BDC9-D1C3-8B8A254B3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CA10BA-8FC6-FD98-0C16-8B1CB371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A33B91-B543-89D9-7B3F-B8EF7887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6AC7AF-01AB-48A7-F07F-1D1DC3484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3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4406627-E8F6-A46B-A1F1-91176B408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815F25D-ACFB-E88A-D862-89A68E957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6302BC-8D91-7747-70D1-0CE179E8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6AFFF2-170A-246F-626A-02678040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2F70B1-A380-94B1-54DA-78B00CC6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00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AF87103-4621-2E55-BE80-04597AB5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161BFA-D28D-996B-B2FA-035DB4F33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36F5BC-79CF-0732-4906-E09CAB47F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62945-89B8-4A77-807C-B3147EBEC65F}" type="datetimeFigureOut">
              <a:rPr lang="fr-FR" smtClean="0"/>
              <a:t>18/10/2026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F64362-5482-6E5D-0233-3CA784F62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1D1742-0814-9AB4-3753-BAB6085F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C7E26-0DA6-4891-B5F7-4A59DED3E9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58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78591410-EC09-9512-492B-7B47F4E33CFE}"/>
              </a:ext>
            </a:extLst>
          </p:cNvPr>
          <p:cNvSpPr txBox="1"/>
          <p:nvPr/>
        </p:nvSpPr>
        <p:spPr>
          <a:xfrm>
            <a:off x="1016000" y="508000"/>
            <a:ext cx="10160000" cy="512961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000" b="1">
                <a:solidFill>
                  <a:srgbClr val="0F172A"/>
                </a:solidFill>
                <a:latin typeface="Segoe UI" panose="020B0502040204020203" pitchFamily="34" charset="0"/>
              </a:rPr>
              <a:t>STRATEGIC SYNERGY: AI + DESKTOP AUTOMATION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D86C37B-4850-1E99-C0C7-6251F54F47CA}"/>
              </a:ext>
            </a:extLst>
          </p:cNvPr>
          <p:cNvSpPr/>
          <p:nvPr/>
        </p:nvSpPr>
        <p:spPr>
          <a:xfrm>
            <a:off x="2286000" y="1651000"/>
            <a:ext cx="4064000" cy="4064000"/>
          </a:xfrm>
          <a:prstGeom prst="ellipse">
            <a:avLst/>
          </a:prstGeom>
          <a:solidFill>
            <a:srgbClr val="3B82F6">
              <a:alpha val="55000"/>
            </a:srgbClr>
          </a:solidFill>
          <a:ln w="2540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3C312A2-8C12-AE9E-DB3D-DC91FB5B7A48}"/>
              </a:ext>
            </a:extLst>
          </p:cNvPr>
          <p:cNvSpPr/>
          <p:nvPr/>
        </p:nvSpPr>
        <p:spPr>
          <a:xfrm>
            <a:off x="4927600" y="1651000"/>
            <a:ext cx="4064000" cy="4064000"/>
          </a:xfrm>
          <a:prstGeom prst="ellipse">
            <a:avLst/>
          </a:prstGeom>
          <a:solidFill>
            <a:srgbClr val="10B981">
              <a:alpha val="55000"/>
            </a:srgbClr>
          </a:solidFill>
          <a:ln w="254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1BA5D882-CF7E-7879-CA30-D33A9E902B0E}"/>
              </a:ext>
            </a:extLst>
          </p:cNvPr>
          <p:cNvSpPr txBox="1"/>
          <p:nvPr/>
        </p:nvSpPr>
        <p:spPr>
          <a:xfrm>
            <a:off x="2540000" y="3073400"/>
            <a:ext cx="2032000" cy="1477328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E3A8A"/>
                </a:solidFill>
                <a:latin typeface="Segoe UI" panose="020B0502040204020203" pitchFamily="34" charset="0"/>
              </a:rPr>
              <a:t>Generative AI
Autonomous agents, natural reasoning, and creative layout generation.</a:t>
            </a:r>
            <a:endParaRPr lang="fr-FR" sz="1500" b="1">
              <a:solidFill>
                <a:srgbClr val="1E3A8A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6" name="ZoneTexte 5">
            <a:extLst>
              <a:ext uri="{FF2B5EF4-FFF2-40B4-BE49-F238E27FC236}">
                <a16:creationId xmlns:a16="http://schemas.microsoft.com/office/drawing/2014/main" id="{0F6A99D3-A833-91AB-E2CC-D7116B50B15D}"/>
              </a:ext>
            </a:extLst>
          </p:cNvPr>
          <p:cNvSpPr txBox="1"/>
          <p:nvPr/>
        </p:nvSpPr>
        <p:spPr>
          <a:xfrm>
            <a:off x="6756400" y="3073400"/>
            <a:ext cx="2032000" cy="124649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algn="ctr"/>
            <a:r>
              <a:rPr lang="fr-FR" sz="1500" b="1">
                <a:solidFill>
                  <a:srgbClr val="064E3B"/>
                </a:solidFill>
                <a:latin typeface="Segoe UI" panose="020B0502040204020203" pitchFamily="34" charset="0"/>
              </a:rPr>
              <a:t>Native COM APIs
100% fidelity, zero rasterization, instant desktop feedback.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81CB426-28B1-CA6B-DA68-2156278D36BE}"/>
              </a:ext>
            </a:extLst>
          </p:cNvPr>
          <p:cNvSpPr/>
          <p:nvPr/>
        </p:nvSpPr>
        <p:spPr>
          <a:xfrm>
            <a:off x="4602480" y="3073400"/>
            <a:ext cx="2032000" cy="82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0F172A"/>
                </a:solidFill>
                <a:latin typeface="Segoe UI" panose="020B0502040204020203" pitchFamily="34" charset="0"/>
              </a:rPr>
              <a:t>Live MCP Control
Autonomous desktop presentation copilot.</a:t>
            </a:r>
            <a:endParaRPr lang="fr-FR" sz="12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53E854-2A80-1776-D8F1-025E9B0668D2}"/>
              </a:ext>
            </a:extLst>
          </p:cNvPr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9" name="ZoneTexte 8">
            <a:extLst>
              <a:ext uri="{FF2B5EF4-FFF2-40B4-BE49-F238E27FC236}">
                <a16:creationId xmlns:a16="http://schemas.microsoft.com/office/drawing/2014/main" id="{A5C37401-DC92-EF65-D955-054862EC868C}"/>
              </a:ext>
            </a:extLst>
          </p:cNvPr>
          <p:cNvSpPr txBox="1"/>
          <p:nvPr/>
        </p:nvSpPr>
        <p:spPr>
          <a:xfrm>
            <a:off x="508000" y="6477000"/>
            <a:ext cx="10160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PowerPoint Live MCP v0.6.0  |  Confidential &amp; Proprietary</a:t>
            </a:r>
            <a:endParaRPr lang="fr-FR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BE5E23EA-1BED-958C-EB08-D7B43471B798}"/>
              </a:ext>
            </a:extLst>
          </p:cNvPr>
          <p:cNvSpPr txBox="1"/>
          <p:nvPr/>
        </p:nvSpPr>
        <p:spPr>
          <a:xfrm>
            <a:off x="10922000" y="6477000"/>
            <a:ext cx="762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1729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6335ACC0-F6B1-831B-1DC2-3885E50EFDCF}"/>
              </a:ext>
            </a:extLst>
          </p:cNvPr>
          <p:cNvSpPr txBox="1"/>
          <p:nvPr/>
        </p:nvSpPr>
        <p:spPr>
          <a:xfrm>
            <a:off x="1016000" y="508000"/>
            <a:ext cx="10160000" cy="512961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000" b="1">
                <a:solidFill>
                  <a:srgbClr val="0F172A"/>
                </a:solidFill>
                <a:latin typeface="Segoe UI" panose="020B0502040204020203" pitchFamily="34" charset="0"/>
              </a:rPr>
              <a:t>ENTERPRISE AUTOMATION MATURITY PYRAMID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1AC5EB8-0A48-CCA0-3390-E7E0AF76F7B7}"/>
              </a:ext>
            </a:extLst>
          </p:cNvPr>
          <p:cNvSpPr/>
          <p:nvPr/>
        </p:nvSpPr>
        <p:spPr>
          <a:xfrm>
            <a:off x="4175760" y="1397000"/>
            <a:ext cx="3840479" cy="863600"/>
          </a:xfrm>
          <a:prstGeom prst="roundRect">
            <a:avLst/>
          </a:prstGeom>
          <a:solidFill>
            <a:srgbClr val="3B8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76F1E34-0138-3EC3-5FA6-15685557DFA0}"/>
              </a:ext>
            </a:extLst>
          </p:cNvPr>
          <p:cNvSpPr/>
          <p:nvPr/>
        </p:nvSpPr>
        <p:spPr>
          <a:xfrm>
            <a:off x="4378960" y="1651000"/>
            <a:ext cx="355600" cy="355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3B82F6"/>
                </a:solidFill>
                <a:latin typeface="Segoe UI" panose="020B0502040204020203" pitchFamily="34" charset="0"/>
              </a:rPr>
              <a:t>1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FB295C25-1E01-8691-C9E7-B13E2A9C2D2C}"/>
              </a:ext>
            </a:extLst>
          </p:cNvPr>
          <p:cNvSpPr txBox="1"/>
          <p:nvPr/>
        </p:nvSpPr>
        <p:spPr>
          <a:xfrm>
            <a:off x="4861560" y="1498600"/>
            <a:ext cx="2951480" cy="492443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Autonomous Ecosystem - Self-healing multi-agent pipelines</a:t>
            </a:r>
            <a:endParaRPr lang="fr-FR" sz="13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17E9732-6212-ACA5-EF74-DB033FD8BE4F}"/>
              </a:ext>
            </a:extLst>
          </p:cNvPr>
          <p:cNvSpPr/>
          <p:nvPr/>
        </p:nvSpPr>
        <p:spPr>
          <a:xfrm>
            <a:off x="3512820" y="2387600"/>
            <a:ext cx="5166360" cy="8636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EDEB816-A9DD-420E-C7AA-DC6495815388}"/>
              </a:ext>
            </a:extLst>
          </p:cNvPr>
          <p:cNvSpPr/>
          <p:nvPr/>
        </p:nvSpPr>
        <p:spPr>
          <a:xfrm>
            <a:off x="3716020" y="2641600"/>
            <a:ext cx="355600" cy="355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2563EB"/>
                </a:solidFill>
                <a:latin typeface="Segoe UI" panose="020B0502040204020203" pitchFamily="34" charset="0"/>
              </a:rPr>
              <a:t>2</a:t>
            </a:r>
          </a:p>
        </p:txBody>
      </p:sp>
      <p:sp useBgFill="1">
        <p:nvSpPr>
          <p:cNvPr id="8" name="ZoneTexte 7">
            <a:extLst>
              <a:ext uri="{FF2B5EF4-FFF2-40B4-BE49-F238E27FC236}">
                <a16:creationId xmlns:a16="http://schemas.microsoft.com/office/drawing/2014/main" id="{A6F5F4E4-85AF-9858-6049-076F732A813E}"/>
              </a:ext>
            </a:extLst>
          </p:cNvPr>
          <p:cNvSpPr txBox="1"/>
          <p:nvPr/>
        </p:nvSpPr>
        <p:spPr>
          <a:xfrm>
            <a:off x="4198620" y="2489200"/>
            <a:ext cx="4277360" cy="492443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Interactive Feedback - Live COM bridge and instant preview</a:t>
            </a:r>
            <a:endParaRPr lang="fr-FR" sz="13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5C0262A-2A7F-EC19-164A-43270AF67939}"/>
              </a:ext>
            </a:extLst>
          </p:cNvPr>
          <p:cNvSpPr/>
          <p:nvPr/>
        </p:nvSpPr>
        <p:spPr>
          <a:xfrm>
            <a:off x="2849880" y="3378200"/>
            <a:ext cx="6492240" cy="863600"/>
          </a:xfrm>
          <a:prstGeom prst="roundRect">
            <a:avLst/>
          </a:prstGeom>
          <a:solidFill>
            <a:srgbClr val="1D4E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76C52C5-D819-4C5B-D9AA-4376A2147957}"/>
              </a:ext>
            </a:extLst>
          </p:cNvPr>
          <p:cNvSpPr/>
          <p:nvPr/>
        </p:nvSpPr>
        <p:spPr>
          <a:xfrm>
            <a:off x="3053080" y="3632200"/>
            <a:ext cx="355600" cy="355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1D4ED8"/>
                </a:solidFill>
                <a:latin typeface="Segoe UI" panose="020B0502040204020203" pitchFamily="34" charset="0"/>
              </a:rPr>
              <a:t>3</a:t>
            </a:r>
          </a:p>
        </p:txBody>
      </p:sp>
      <p:sp useBgFill="1">
        <p:nvSpPr>
          <p:cNvPr id="11" name="ZoneTexte 10">
            <a:extLst>
              <a:ext uri="{FF2B5EF4-FFF2-40B4-BE49-F238E27FC236}">
                <a16:creationId xmlns:a16="http://schemas.microsoft.com/office/drawing/2014/main" id="{2B22EF4A-4C0D-4AA0-4DCF-7507DDE73C5E}"/>
              </a:ext>
            </a:extLst>
          </p:cNvPr>
          <p:cNvSpPr txBox="1"/>
          <p:nvPr/>
        </p:nvSpPr>
        <p:spPr>
          <a:xfrm>
            <a:off x="3535680" y="3479800"/>
            <a:ext cx="5603240" cy="292388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Reusable Templates - Standardized executive design systems</a:t>
            </a:r>
            <a:endParaRPr lang="fr-FR" sz="13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5C3230C-70A4-03C1-6E79-E2F01A7B8E02}"/>
              </a:ext>
            </a:extLst>
          </p:cNvPr>
          <p:cNvSpPr/>
          <p:nvPr/>
        </p:nvSpPr>
        <p:spPr>
          <a:xfrm>
            <a:off x="2186940" y="4368800"/>
            <a:ext cx="7818120" cy="863600"/>
          </a:xfrm>
          <a:prstGeom prst="roundRect">
            <a:avLst/>
          </a:prstGeom>
          <a:solidFill>
            <a:srgbClr val="1E40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C6AFBA1-C3BC-C2D7-7970-CFE46E6053F8}"/>
              </a:ext>
            </a:extLst>
          </p:cNvPr>
          <p:cNvSpPr/>
          <p:nvPr/>
        </p:nvSpPr>
        <p:spPr>
          <a:xfrm>
            <a:off x="2390140" y="4622800"/>
            <a:ext cx="355600" cy="355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1E40AF"/>
                </a:solidFill>
                <a:latin typeface="Segoe UI" panose="020B0502040204020203" pitchFamily="34" charset="0"/>
              </a:rPr>
              <a:t>4</a:t>
            </a:r>
          </a:p>
        </p:txBody>
      </p:sp>
      <p:sp useBgFill="1">
        <p:nvSpPr>
          <p:cNvPr id="14" name="ZoneTexte 13">
            <a:extLst>
              <a:ext uri="{FF2B5EF4-FFF2-40B4-BE49-F238E27FC236}">
                <a16:creationId xmlns:a16="http://schemas.microsoft.com/office/drawing/2014/main" id="{8C0A4DDB-57C4-7D26-C81D-DBD3ABA9610F}"/>
              </a:ext>
            </a:extLst>
          </p:cNvPr>
          <p:cNvSpPr txBox="1"/>
          <p:nvPr/>
        </p:nvSpPr>
        <p:spPr>
          <a:xfrm>
            <a:off x="2872740" y="4470400"/>
            <a:ext cx="6929120" cy="292388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Scripted Automation - Basic one-off slide generators</a:t>
            </a:r>
            <a:endParaRPr lang="fr-FR" sz="13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6C667D6-39C6-D117-BCD5-B8598C46AE9B}"/>
              </a:ext>
            </a:extLst>
          </p:cNvPr>
          <p:cNvSpPr/>
          <p:nvPr/>
        </p:nvSpPr>
        <p:spPr>
          <a:xfrm>
            <a:off x="1524000" y="5359400"/>
            <a:ext cx="9144000" cy="863600"/>
          </a:xfrm>
          <a:prstGeom prst="roundRect">
            <a:avLst/>
          </a:prstGeom>
          <a:solidFill>
            <a:srgbClr val="1E3A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DFF684C-8359-C2D7-C9F7-22FFD2067953}"/>
              </a:ext>
            </a:extLst>
          </p:cNvPr>
          <p:cNvSpPr/>
          <p:nvPr/>
        </p:nvSpPr>
        <p:spPr>
          <a:xfrm>
            <a:off x="1727200" y="5613400"/>
            <a:ext cx="355600" cy="3556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>
                <a:solidFill>
                  <a:srgbClr val="1E3A8A"/>
                </a:solidFill>
                <a:latin typeface="Segoe UI" panose="020B0502040204020203" pitchFamily="34" charset="0"/>
              </a:rPr>
              <a:t>5</a:t>
            </a:r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EBAFB947-BAF2-6785-3256-E7D48D23BC6E}"/>
              </a:ext>
            </a:extLst>
          </p:cNvPr>
          <p:cNvSpPr txBox="1"/>
          <p:nvPr/>
        </p:nvSpPr>
        <p:spPr>
          <a:xfrm>
            <a:off x="2209800" y="5461000"/>
            <a:ext cx="8255000" cy="292388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Manual Presentation Design - Slow, error-prone manual formatting</a:t>
            </a:r>
            <a:endParaRPr lang="fr-FR" sz="13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A3F18D-06D2-F05F-91CC-779A47CC3E1F}"/>
              </a:ext>
            </a:extLst>
          </p:cNvPr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19" name="ZoneTexte 18">
            <a:extLst>
              <a:ext uri="{FF2B5EF4-FFF2-40B4-BE49-F238E27FC236}">
                <a16:creationId xmlns:a16="http://schemas.microsoft.com/office/drawing/2014/main" id="{6A3FBC28-E425-3DB6-6C92-3DEAC9270E6E}"/>
              </a:ext>
            </a:extLst>
          </p:cNvPr>
          <p:cNvSpPr txBox="1"/>
          <p:nvPr/>
        </p:nvSpPr>
        <p:spPr>
          <a:xfrm>
            <a:off x="508000" y="6477000"/>
            <a:ext cx="10160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PowerPoint Live MCP v0.6.0  |  Confidential &amp; Proprietary</a:t>
            </a:r>
            <a:endParaRPr lang="fr-FR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20" name="ZoneTexte 19">
            <a:extLst>
              <a:ext uri="{FF2B5EF4-FFF2-40B4-BE49-F238E27FC236}">
                <a16:creationId xmlns:a16="http://schemas.microsoft.com/office/drawing/2014/main" id="{D0BFABF0-EF2E-A14C-E8C4-A8D893B6C6B7}"/>
              </a:ext>
            </a:extLst>
          </p:cNvPr>
          <p:cNvSpPr txBox="1"/>
          <p:nvPr/>
        </p:nvSpPr>
        <p:spPr>
          <a:xfrm>
            <a:off x="10922000" y="6477000"/>
            <a:ext cx="762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323279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42FD4967-B80A-1BFF-D435-9F544838E41A}"/>
              </a:ext>
            </a:extLst>
          </p:cNvPr>
          <p:cNvSpPr txBox="1"/>
          <p:nvPr/>
        </p:nvSpPr>
        <p:spPr>
          <a:xfrm>
            <a:off x="1016000" y="508000"/>
            <a:ext cx="10160000" cy="512961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STRATEGIC FEATURE PRIORITIZATION (2x2 MATRIX)</a:t>
            </a:r>
            <a:endParaRPr lang="fr-FR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E3C9025-CB27-F4AF-F540-3EE2B2897EDB}"/>
              </a:ext>
            </a:extLst>
          </p:cNvPr>
          <p:cNvSpPr/>
          <p:nvPr/>
        </p:nvSpPr>
        <p:spPr>
          <a:xfrm>
            <a:off x="1270000" y="1397000"/>
            <a:ext cx="4724400" cy="218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4" name="ZoneTexte 3">
            <a:extLst>
              <a:ext uri="{FF2B5EF4-FFF2-40B4-BE49-F238E27FC236}">
                <a16:creationId xmlns:a16="http://schemas.microsoft.com/office/drawing/2014/main" id="{AA85A192-1D25-6AC0-844D-F21A4F3E92B4}"/>
              </a:ext>
            </a:extLst>
          </p:cNvPr>
          <p:cNvSpPr txBox="1"/>
          <p:nvPr/>
        </p:nvSpPr>
        <p:spPr>
          <a:xfrm>
            <a:off x="1447800" y="1524000"/>
            <a:ext cx="4368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10B981"/>
                </a:solidFill>
                <a:latin typeface="Segoe UI" panose="020B0502040204020203" pitchFamily="34" charset="0"/>
              </a:rPr>
              <a:t>QUICK WINS (Deploy Immediately)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A652F176-6CC0-4562-28AA-FCCBE54BC2E2}"/>
              </a:ext>
            </a:extLst>
          </p:cNvPr>
          <p:cNvSpPr txBox="1"/>
          <p:nvPr/>
        </p:nvSpPr>
        <p:spPr>
          <a:xfrm>
            <a:off x="1447800" y="1854200"/>
            <a:ext cx="4368800" cy="60016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- Progressive slide builds
- Pre-built executive cards
- Venn &amp; Pyramid diagrams</a:t>
            </a:r>
            <a:endParaRPr lang="fr-F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C796760-D320-A328-0B7A-C79C10BBE2A5}"/>
              </a:ext>
            </a:extLst>
          </p:cNvPr>
          <p:cNvSpPr/>
          <p:nvPr/>
        </p:nvSpPr>
        <p:spPr>
          <a:xfrm>
            <a:off x="6197600" y="1397000"/>
            <a:ext cx="4724400" cy="218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7" name="ZoneTexte 6">
            <a:extLst>
              <a:ext uri="{FF2B5EF4-FFF2-40B4-BE49-F238E27FC236}">
                <a16:creationId xmlns:a16="http://schemas.microsoft.com/office/drawing/2014/main" id="{C4CC1142-B1CC-1A76-153F-90FE0032915B}"/>
              </a:ext>
            </a:extLst>
          </p:cNvPr>
          <p:cNvSpPr txBox="1"/>
          <p:nvPr/>
        </p:nvSpPr>
        <p:spPr>
          <a:xfrm>
            <a:off x="6375400" y="1524000"/>
            <a:ext cx="4368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3B82F6"/>
                </a:solidFill>
                <a:latin typeface="Segoe UI" panose="020B0502040204020203" pitchFamily="34" charset="0"/>
              </a:rPr>
              <a:t>STRATEGIC BETS (Q3 Roadmap)</a:t>
            </a:r>
          </a:p>
        </p:txBody>
      </p:sp>
      <p:sp useBgFill="1">
        <p:nvSpPr>
          <p:cNvPr id="8" name="ZoneTexte 7">
            <a:extLst>
              <a:ext uri="{FF2B5EF4-FFF2-40B4-BE49-F238E27FC236}">
                <a16:creationId xmlns:a16="http://schemas.microsoft.com/office/drawing/2014/main" id="{7BD5B785-7B26-CAFA-1816-DC9B2E4FA9E2}"/>
              </a:ext>
            </a:extLst>
          </p:cNvPr>
          <p:cNvSpPr txBox="1"/>
          <p:nvPr/>
        </p:nvSpPr>
        <p:spPr>
          <a:xfrm>
            <a:off x="6375400" y="1854200"/>
            <a:ext cx="4368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- Full multi-agent presentation orchestra
- Live Excel-to-PowerPoint chart sync</a:t>
            </a:r>
            <a:endParaRPr lang="fr-F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B83B43E-4D6E-A967-38A7-9D2318514AA1}"/>
              </a:ext>
            </a:extLst>
          </p:cNvPr>
          <p:cNvSpPr/>
          <p:nvPr/>
        </p:nvSpPr>
        <p:spPr>
          <a:xfrm>
            <a:off x="1270000" y="3784600"/>
            <a:ext cx="4724400" cy="21844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90CAD65D-A352-C24F-1AAA-6FE457A387CF}"/>
              </a:ext>
            </a:extLst>
          </p:cNvPr>
          <p:cNvSpPr txBox="1"/>
          <p:nvPr/>
        </p:nvSpPr>
        <p:spPr>
          <a:xfrm>
            <a:off x="1447800" y="3911600"/>
            <a:ext cx="4368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F59E0B"/>
                </a:solidFill>
                <a:latin typeface="Segoe UI" panose="020B0502040204020203" pitchFamily="34" charset="0"/>
              </a:rPr>
              <a:t>TACTICAL FILL-INS (Low Priority)</a:t>
            </a:r>
          </a:p>
        </p:txBody>
      </p:sp>
      <p:sp useBgFill="1">
        <p:nvSpPr>
          <p:cNvPr id="11" name="ZoneTexte 10">
            <a:extLst>
              <a:ext uri="{FF2B5EF4-FFF2-40B4-BE49-F238E27FC236}">
                <a16:creationId xmlns:a16="http://schemas.microsoft.com/office/drawing/2014/main" id="{7B6137A2-A40A-3976-53F5-1F18B3A93562}"/>
              </a:ext>
            </a:extLst>
          </p:cNvPr>
          <p:cNvSpPr txBox="1"/>
          <p:nvPr/>
        </p:nvSpPr>
        <p:spPr>
          <a:xfrm>
            <a:off x="1447800" y="4241800"/>
            <a:ext cx="4368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334155"/>
                </a:solidFill>
                <a:latin typeface="Segoe UI" panose="020B0502040204020203" pitchFamily="34" charset="0"/>
              </a:rPr>
              <a:t>- Niche animation transitions
- Legacy format exports (.ppt)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7C58333-645C-4E8D-9284-97D745B3ADBF}"/>
              </a:ext>
            </a:extLst>
          </p:cNvPr>
          <p:cNvSpPr/>
          <p:nvPr/>
        </p:nvSpPr>
        <p:spPr>
          <a:xfrm>
            <a:off x="6197600" y="3784600"/>
            <a:ext cx="4724400" cy="2184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13" name="ZoneTexte 12">
            <a:extLst>
              <a:ext uri="{FF2B5EF4-FFF2-40B4-BE49-F238E27FC236}">
                <a16:creationId xmlns:a16="http://schemas.microsoft.com/office/drawing/2014/main" id="{F213F609-F7F7-6363-9469-382CBC2EC9F2}"/>
              </a:ext>
            </a:extLst>
          </p:cNvPr>
          <p:cNvSpPr txBox="1"/>
          <p:nvPr/>
        </p:nvSpPr>
        <p:spPr>
          <a:xfrm>
            <a:off x="6375400" y="3911600"/>
            <a:ext cx="4368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EF4444"/>
                </a:solidFill>
                <a:latin typeface="Segoe UI" panose="020B0502040204020203" pitchFamily="34" charset="0"/>
              </a:rPr>
              <a:t>TIME SINKS (Avoid / Deprecate)</a:t>
            </a:r>
          </a:p>
        </p:txBody>
      </p:sp>
      <p:sp useBgFill="1">
        <p:nvSpPr>
          <p:cNvPr id="14" name="ZoneTexte 13">
            <a:extLst>
              <a:ext uri="{FF2B5EF4-FFF2-40B4-BE49-F238E27FC236}">
                <a16:creationId xmlns:a16="http://schemas.microsoft.com/office/drawing/2014/main" id="{7457D1F2-E85C-FAB1-7AAE-87BCE1B3E093}"/>
              </a:ext>
            </a:extLst>
          </p:cNvPr>
          <p:cNvSpPr txBox="1"/>
          <p:nvPr/>
        </p:nvSpPr>
        <p:spPr>
          <a:xfrm>
            <a:off x="6375400" y="4241800"/>
            <a:ext cx="4368800" cy="430887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Segoe UI" panose="020B0502040204020203" pitchFamily="34" charset="0"/>
              </a:rPr>
              <a:t>- Manual pixel adjustment scripts
- Third-party cloud converters</a:t>
            </a:r>
            <a:endParaRPr lang="fr-FR" sz="11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15" name="ZoneTexte 14">
            <a:extLst>
              <a:ext uri="{FF2B5EF4-FFF2-40B4-BE49-F238E27FC236}">
                <a16:creationId xmlns:a16="http://schemas.microsoft.com/office/drawing/2014/main" id="{8DD71D71-5A26-BDFC-4DB1-3DA3235C91A1}"/>
              </a:ext>
            </a:extLst>
          </p:cNvPr>
          <p:cNvSpPr txBox="1"/>
          <p:nvPr/>
        </p:nvSpPr>
        <p:spPr>
          <a:xfrm>
            <a:off x="1270000" y="6045200"/>
            <a:ext cx="9652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ctr"/>
            <a:r>
              <a:rPr lang="fr-FR" sz="1000" b="1">
                <a:solidFill>
                  <a:srgbClr val="64748B"/>
                </a:solidFill>
                <a:latin typeface="Segoe UI" panose="020B0502040204020203" pitchFamily="34" charset="0"/>
              </a:rPr>
              <a:t>&lt;&lt; Low Implementation Effort                          EFFORT / COMPLEXITY                          High Implementation Effort &gt;&gt;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9C552E-8CB6-2116-EEC1-E63151338BA0}"/>
              </a:ext>
            </a:extLst>
          </p:cNvPr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125B434E-B660-17A4-964C-A9CC97EADF39}"/>
              </a:ext>
            </a:extLst>
          </p:cNvPr>
          <p:cNvSpPr txBox="1"/>
          <p:nvPr/>
        </p:nvSpPr>
        <p:spPr>
          <a:xfrm>
            <a:off x="508000" y="6477000"/>
            <a:ext cx="10160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PowerPoint Live MCP v0.6.0  |  Confidential &amp; Proprietary</a:t>
            </a:r>
            <a:endParaRPr lang="fr-FR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18" name="ZoneTexte 17">
            <a:extLst>
              <a:ext uri="{FF2B5EF4-FFF2-40B4-BE49-F238E27FC236}">
                <a16:creationId xmlns:a16="http://schemas.microsoft.com/office/drawing/2014/main" id="{C7473F20-8362-A5C2-4AAC-E2C42AA4B17C}"/>
              </a:ext>
            </a:extLst>
          </p:cNvPr>
          <p:cNvSpPr txBox="1"/>
          <p:nvPr/>
        </p:nvSpPr>
        <p:spPr>
          <a:xfrm>
            <a:off x="10922000" y="6477000"/>
            <a:ext cx="762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Slide 3</a:t>
            </a:r>
          </a:p>
        </p:txBody>
      </p:sp>
    </p:spTree>
    <p:extLst>
      <p:ext uri="{BB962C8B-B14F-4D97-AF65-F5344CB8AC3E}">
        <p14:creationId xmlns:p14="http://schemas.microsoft.com/office/powerpoint/2010/main" val="363531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BC0B9D31-84F6-D5A7-E8D4-40FEEBAE78F3}"/>
              </a:ext>
            </a:extLst>
          </p:cNvPr>
          <p:cNvSpPr txBox="1"/>
          <p:nvPr/>
        </p:nvSpPr>
        <p:spPr>
          <a:xfrm>
            <a:off x="1016000" y="508000"/>
            <a:ext cx="10160000" cy="512961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000" b="1">
                <a:solidFill>
                  <a:srgbClr val="0F172A"/>
                </a:solidFill>
                <a:latin typeface="Segoe UI" panose="020B0502040204020203" pitchFamily="34" charset="0"/>
              </a:rPr>
              <a:t>2026 PRODUCT ROADMAP &amp; MILESTONES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7600C9-6EE2-742C-0698-C6E5FC3B9014}"/>
              </a:ext>
            </a:extLst>
          </p:cNvPr>
          <p:cNvSpPr/>
          <p:nvPr/>
        </p:nvSpPr>
        <p:spPr>
          <a:xfrm>
            <a:off x="1016000" y="2095500"/>
            <a:ext cx="10160000" cy="3810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2587366-5831-AAB0-3806-045FDD73CFA2}"/>
              </a:ext>
            </a:extLst>
          </p:cNvPr>
          <p:cNvSpPr/>
          <p:nvPr/>
        </p:nvSpPr>
        <p:spPr>
          <a:xfrm>
            <a:off x="2082800" y="1987550"/>
            <a:ext cx="254000" cy="25400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BED31EC-B9EC-1048-5031-97F9375DADF2}"/>
              </a:ext>
            </a:extLst>
          </p:cNvPr>
          <p:cNvSpPr/>
          <p:nvPr/>
        </p:nvSpPr>
        <p:spPr>
          <a:xfrm>
            <a:off x="1638300" y="1651000"/>
            <a:ext cx="1143000" cy="2794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Q1 2026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AFCDC7E-6213-4870-A0E4-4024503712AD}"/>
              </a:ext>
            </a:extLst>
          </p:cNvPr>
          <p:cNvSpPr/>
          <p:nvPr/>
        </p:nvSpPr>
        <p:spPr>
          <a:xfrm>
            <a:off x="1016000" y="2349500"/>
            <a:ext cx="23876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7" name="ZoneTexte 6">
            <a:extLst>
              <a:ext uri="{FF2B5EF4-FFF2-40B4-BE49-F238E27FC236}">
                <a16:creationId xmlns:a16="http://schemas.microsoft.com/office/drawing/2014/main" id="{DF4287D6-1EC5-4280-0BBB-C513114568F9}"/>
              </a:ext>
            </a:extLst>
          </p:cNvPr>
          <p:cNvSpPr txBox="1"/>
          <p:nvPr/>
        </p:nvSpPr>
        <p:spPr>
          <a:xfrm>
            <a:off x="1168400" y="2501900"/>
            <a:ext cx="2082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0F172A"/>
                </a:solidFill>
                <a:latin typeface="Segoe UI" panose="020B0502040204020203" pitchFamily="34" charset="0"/>
              </a:rPr>
              <a:t>Foundation</a:t>
            </a:r>
          </a:p>
        </p:txBody>
      </p:sp>
      <p:sp useBgFill="1">
        <p:nvSpPr>
          <p:cNvPr id="8" name="ZoneTexte 7">
            <a:extLst>
              <a:ext uri="{FF2B5EF4-FFF2-40B4-BE49-F238E27FC236}">
                <a16:creationId xmlns:a16="http://schemas.microsoft.com/office/drawing/2014/main" id="{8CD22817-853C-8886-9940-31833752547C}"/>
              </a:ext>
            </a:extLst>
          </p:cNvPr>
          <p:cNvSpPr txBox="1"/>
          <p:nvPr/>
        </p:nvSpPr>
        <p:spPr>
          <a:xfrm>
            <a:off x="1168400" y="2857500"/>
            <a:ext cx="2082800" cy="60016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- FastMCP Engine
- Windows COM Bridge
- Real-time Live Sync</a:t>
            </a:r>
            <a:endParaRPr lang="fr-FR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622AE8D-2F68-EA86-6D35-A2F2619EAF4A}"/>
              </a:ext>
            </a:extLst>
          </p:cNvPr>
          <p:cNvSpPr/>
          <p:nvPr/>
        </p:nvSpPr>
        <p:spPr>
          <a:xfrm>
            <a:off x="4673600" y="1987550"/>
            <a:ext cx="254000" cy="25400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8B62C69-6A9C-E329-F4FF-84E6F1DC1E82}"/>
              </a:ext>
            </a:extLst>
          </p:cNvPr>
          <p:cNvSpPr/>
          <p:nvPr/>
        </p:nvSpPr>
        <p:spPr>
          <a:xfrm>
            <a:off x="4229100" y="1651000"/>
            <a:ext cx="1143000" cy="2794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Q2 2026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BCF872C-8338-1CA1-3EED-25A03142301E}"/>
              </a:ext>
            </a:extLst>
          </p:cNvPr>
          <p:cNvSpPr/>
          <p:nvPr/>
        </p:nvSpPr>
        <p:spPr>
          <a:xfrm>
            <a:off x="3606800" y="2349500"/>
            <a:ext cx="23876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12" name="ZoneTexte 11">
            <a:extLst>
              <a:ext uri="{FF2B5EF4-FFF2-40B4-BE49-F238E27FC236}">
                <a16:creationId xmlns:a16="http://schemas.microsoft.com/office/drawing/2014/main" id="{9066F8FB-862C-A915-61CC-EC28CC469087}"/>
              </a:ext>
            </a:extLst>
          </p:cNvPr>
          <p:cNvSpPr txBox="1"/>
          <p:nvPr/>
        </p:nvSpPr>
        <p:spPr>
          <a:xfrm>
            <a:off x="3759200" y="2501900"/>
            <a:ext cx="2082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0F172A"/>
                </a:solidFill>
                <a:latin typeface="Segoe UI" panose="020B0502040204020203" pitchFamily="34" charset="0"/>
              </a:rPr>
              <a:t>Executive Suite</a:t>
            </a:r>
          </a:p>
        </p:txBody>
      </p:sp>
      <p:sp useBgFill="1">
        <p:nvSpPr>
          <p:cNvPr id="13" name="ZoneTexte 12">
            <a:extLst>
              <a:ext uri="{FF2B5EF4-FFF2-40B4-BE49-F238E27FC236}">
                <a16:creationId xmlns:a16="http://schemas.microsoft.com/office/drawing/2014/main" id="{A2B5551C-775F-5B71-A2E7-5A3A72547252}"/>
              </a:ext>
            </a:extLst>
          </p:cNvPr>
          <p:cNvSpPr txBox="1"/>
          <p:nvPr/>
        </p:nvSpPr>
        <p:spPr>
          <a:xfrm>
            <a:off x="3759200" y="2857500"/>
            <a:ext cx="2082800" cy="60016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- KPI Hero Cards
- SWOT &amp; Funnel Visuals
- Sequential Stepper</a:t>
            </a:r>
            <a:endParaRPr lang="fr-FR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C2799EF-DC4F-FD23-76C8-889757E716A4}"/>
              </a:ext>
            </a:extLst>
          </p:cNvPr>
          <p:cNvSpPr/>
          <p:nvPr/>
        </p:nvSpPr>
        <p:spPr>
          <a:xfrm>
            <a:off x="7264400" y="1987550"/>
            <a:ext cx="254000" cy="2540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9198946-6662-60C8-4951-403E17110105}"/>
              </a:ext>
            </a:extLst>
          </p:cNvPr>
          <p:cNvSpPr/>
          <p:nvPr/>
        </p:nvSpPr>
        <p:spPr>
          <a:xfrm>
            <a:off x="6819900" y="1651000"/>
            <a:ext cx="1143000" cy="279400"/>
          </a:xfrm>
          <a:prstGeom prst="round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Q3 2026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F3D89D2-7682-A35F-C9BA-5416AE358090}"/>
              </a:ext>
            </a:extLst>
          </p:cNvPr>
          <p:cNvSpPr/>
          <p:nvPr/>
        </p:nvSpPr>
        <p:spPr>
          <a:xfrm>
            <a:off x="6197600" y="2349500"/>
            <a:ext cx="23876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87C6CF1F-59FC-68CD-37BC-A03CCDDD9008}"/>
              </a:ext>
            </a:extLst>
          </p:cNvPr>
          <p:cNvSpPr txBox="1"/>
          <p:nvPr/>
        </p:nvSpPr>
        <p:spPr>
          <a:xfrm>
            <a:off x="6350000" y="2501900"/>
            <a:ext cx="2082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0F172A"/>
                </a:solidFill>
                <a:latin typeface="Segoe UI" panose="020B0502040204020203" pitchFamily="34" charset="0"/>
              </a:rPr>
              <a:t>Strategy &amp; Analytics</a:t>
            </a:r>
          </a:p>
        </p:txBody>
      </p:sp>
      <p:sp useBgFill="1">
        <p:nvSpPr>
          <p:cNvPr id="18" name="ZoneTexte 17">
            <a:extLst>
              <a:ext uri="{FF2B5EF4-FFF2-40B4-BE49-F238E27FC236}">
                <a16:creationId xmlns:a16="http://schemas.microsoft.com/office/drawing/2014/main" id="{4F8BF718-F7F4-33A2-ABC2-4738C2DA1091}"/>
              </a:ext>
            </a:extLst>
          </p:cNvPr>
          <p:cNvSpPr txBox="1"/>
          <p:nvPr/>
        </p:nvSpPr>
        <p:spPr>
          <a:xfrm>
            <a:off x="6350000" y="2857500"/>
            <a:ext cx="2082800" cy="60016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fr-FR" sz="1100">
                <a:solidFill>
                  <a:srgbClr val="475569"/>
                </a:solidFill>
                <a:latin typeface="Segoe UI" panose="020B0502040204020203" pitchFamily="34" charset="0"/>
              </a:rPr>
              <a:t>- 2x2 Matrix &amp; Venn Diagrams
- ROI Calculators
- Batch Formatting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F99A9A9-DF34-34EE-685D-4F2CE33F8942}"/>
              </a:ext>
            </a:extLst>
          </p:cNvPr>
          <p:cNvSpPr/>
          <p:nvPr/>
        </p:nvSpPr>
        <p:spPr>
          <a:xfrm>
            <a:off x="9855200" y="1987550"/>
            <a:ext cx="254000" cy="254000"/>
          </a:xfrm>
          <a:prstGeom prst="ellipse">
            <a:avLst/>
          </a:prstGeom>
          <a:solidFill>
            <a:srgbClr val="94A3B8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43693E1B-7030-70B7-75D4-F42FEA6C51E3}"/>
              </a:ext>
            </a:extLst>
          </p:cNvPr>
          <p:cNvSpPr/>
          <p:nvPr/>
        </p:nvSpPr>
        <p:spPr>
          <a:xfrm>
            <a:off x="9410700" y="1651000"/>
            <a:ext cx="1143000" cy="279400"/>
          </a:xfrm>
          <a:prstGeom prst="roundRect">
            <a:avLst/>
          </a:prstGeom>
          <a:solidFill>
            <a:srgbClr val="94A3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FFFFFF"/>
                </a:solidFill>
                <a:latin typeface="Segoe UI" panose="020B0502040204020203" pitchFamily="34" charset="0"/>
              </a:rPr>
              <a:t>Q4 2026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0D19D3-45A2-6BF3-040F-60E0093A7FA1}"/>
              </a:ext>
            </a:extLst>
          </p:cNvPr>
          <p:cNvSpPr/>
          <p:nvPr/>
        </p:nvSpPr>
        <p:spPr>
          <a:xfrm>
            <a:off x="8788400" y="2349500"/>
            <a:ext cx="23876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22" name="ZoneTexte 21">
            <a:extLst>
              <a:ext uri="{FF2B5EF4-FFF2-40B4-BE49-F238E27FC236}">
                <a16:creationId xmlns:a16="http://schemas.microsoft.com/office/drawing/2014/main" id="{1812C968-564C-678B-E14C-1E2DEDE7AC12}"/>
              </a:ext>
            </a:extLst>
          </p:cNvPr>
          <p:cNvSpPr txBox="1"/>
          <p:nvPr/>
        </p:nvSpPr>
        <p:spPr>
          <a:xfrm>
            <a:off x="8940800" y="2501900"/>
            <a:ext cx="2082800" cy="29238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300" b="1">
                <a:solidFill>
                  <a:srgbClr val="0F172A"/>
                </a:solidFill>
                <a:latin typeface="Segoe UI" panose="020B0502040204020203" pitchFamily="34" charset="0"/>
              </a:rPr>
              <a:t>Autonomous Agents</a:t>
            </a:r>
          </a:p>
        </p:txBody>
      </p:sp>
      <p:sp useBgFill="1">
        <p:nvSpPr>
          <p:cNvPr id="23" name="ZoneTexte 22">
            <a:extLst>
              <a:ext uri="{FF2B5EF4-FFF2-40B4-BE49-F238E27FC236}">
                <a16:creationId xmlns:a16="http://schemas.microsoft.com/office/drawing/2014/main" id="{133E7E06-83F7-9D4A-3832-F20BC33040FA}"/>
              </a:ext>
            </a:extLst>
          </p:cNvPr>
          <p:cNvSpPr txBox="1"/>
          <p:nvPr/>
        </p:nvSpPr>
        <p:spPr>
          <a:xfrm>
            <a:off x="8940800" y="2857500"/>
            <a:ext cx="2082800" cy="76944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475569"/>
                </a:solidFill>
                <a:latin typeface="Segoe UI" panose="020B0502040204020203" pitchFamily="34" charset="0"/>
              </a:rPr>
              <a:t>- Autonomous Deck Generation
- Cross-App MCP Orchestration</a:t>
            </a:r>
            <a:endParaRPr lang="fr-FR" sz="11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09FF85-AD52-60E5-7034-9C5FEA8F1B3B}"/>
              </a:ext>
            </a:extLst>
          </p:cNvPr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25" name="ZoneTexte 24">
            <a:extLst>
              <a:ext uri="{FF2B5EF4-FFF2-40B4-BE49-F238E27FC236}">
                <a16:creationId xmlns:a16="http://schemas.microsoft.com/office/drawing/2014/main" id="{70F934F9-9857-DBE7-BB9E-C1FD485BEF69}"/>
              </a:ext>
            </a:extLst>
          </p:cNvPr>
          <p:cNvSpPr txBox="1"/>
          <p:nvPr/>
        </p:nvSpPr>
        <p:spPr>
          <a:xfrm>
            <a:off x="508000" y="6477000"/>
            <a:ext cx="10160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PowerPoint Live MCP v0.6.0  |  Confidential &amp; Proprietary</a:t>
            </a:r>
            <a:endParaRPr lang="fr-FR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26" name="ZoneTexte 25">
            <a:extLst>
              <a:ext uri="{FF2B5EF4-FFF2-40B4-BE49-F238E27FC236}">
                <a16:creationId xmlns:a16="http://schemas.microsoft.com/office/drawing/2014/main" id="{975F7CD3-56C9-C5EE-C6B3-84087B1B3507}"/>
              </a:ext>
            </a:extLst>
          </p:cNvPr>
          <p:cNvSpPr txBox="1"/>
          <p:nvPr/>
        </p:nvSpPr>
        <p:spPr>
          <a:xfrm>
            <a:off x="10922000" y="6477000"/>
            <a:ext cx="762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Slide 4</a:t>
            </a:r>
          </a:p>
        </p:txBody>
      </p:sp>
    </p:spTree>
    <p:extLst>
      <p:ext uri="{BB962C8B-B14F-4D97-AF65-F5344CB8AC3E}">
        <p14:creationId xmlns:p14="http://schemas.microsoft.com/office/powerpoint/2010/main" val="354130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B1FDBE9A-6F37-C2FC-14FC-F48D3555B56C}"/>
              </a:ext>
            </a:extLst>
          </p:cNvPr>
          <p:cNvSpPr txBox="1"/>
          <p:nvPr/>
        </p:nvSpPr>
        <p:spPr>
          <a:xfrm>
            <a:off x="1016000" y="508000"/>
            <a:ext cx="10160000" cy="512961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000" b="1">
                <a:solidFill>
                  <a:srgbClr val="0F172A"/>
                </a:solidFill>
                <a:latin typeface="Segoe UI" panose="020B0502040204020203" pitchFamily="34" charset="0"/>
              </a:rPr>
              <a:t>TARGET BUYER &amp; USER PERSONA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48E6175-E684-CA3E-AF1C-31EB5D0848BE}"/>
              </a:ext>
            </a:extLst>
          </p:cNvPr>
          <p:cNvSpPr/>
          <p:nvPr/>
        </p:nvSpPr>
        <p:spPr>
          <a:xfrm>
            <a:off x="1016000" y="1524000"/>
            <a:ext cx="10160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D577759-D564-D933-9F26-CB367B41A9C4}"/>
              </a:ext>
            </a:extLst>
          </p:cNvPr>
          <p:cNvSpPr/>
          <p:nvPr/>
        </p:nvSpPr>
        <p:spPr>
          <a:xfrm>
            <a:off x="1270000" y="1778000"/>
            <a:ext cx="685800" cy="685800"/>
          </a:xfrm>
          <a:prstGeom prst="ellipse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ER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4A9BBB49-6B2D-BBEE-9BAB-3965D836E151}"/>
              </a:ext>
            </a:extLst>
          </p:cNvPr>
          <p:cNvSpPr txBox="1"/>
          <p:nvPr/>
        </p:nvSpPr>
        <p:spPr>
          <a:xfrm>
            <a:off x="2159000" y="1727200"/>
            <a:ext cx="8636000" cy="615553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700" b="1">
                <a:solidFill>
                  <a:srgbClr val="0F172A"/>
                </a:solidFill>
                <a:latin typeface="Segoe UI" panose="020B0502040204020203" pitchFamily="34" charset="0"/>
              </a:rPr>
              <a:t>Elena Rostova
VP of Strategic Operations  |  Global Enterprise Tech</a:t>
            </a:r>
            <a:endParaRPr lang="fr-FR" sz="17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D888915-A047-8CBB-D263-7E1EC062FF15}"/>
              </a:ext>
            </a:extLst>
          </p:cNvPr>
          <p:cNvSpPr/>
          <p:nvPr/>
        </p:nvSpPr>
        <p:spPr>
          <a:xfrm>
            <a:off x="1270000" y="2590800"/>
            <a:ext cx="9652000" cy="533400"/>
          </a:xfrm>
          <a:prstGeom prst="roundRect">
            <a:avLst/>
          </a:prstGeom>
          <a:solidFill>
            <a:srgbClr val="EFF6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>
                <a:solidFill>
                  <a:srgbClr val="1E40AF"/>
                </a:solidFill>
                <a:latin typeface="Segoe UI" panose="020B0502040204020203" pitchFamily="34" charset="0"/>
              </a:rPr>
              <a:t>"I want my team creating insights, not wasting hours hand-aligning PowerPoint shapes."</a:t>
            </a:r>
            <a:endParaRPr lang="fr-FR" sz="1100" i="1">
              <a:solidFill>
                <a:srgbClr val="1E40A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FD55FAD-7791-681F-F04E-DDA10A310436}"/>
              </a:ext>
            </a:extLst>
          </p:cNvPr>
          <p:cNvSpPr/>
          <p:nvPr/>
        </p:nvSpPr>
        <p:spPr>
          <a:xfrm>
            <a:off x="1270000" y="3276600"/>
            <a:ext cx="4699000" cy="17780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8" name="ZoneTexte 7">
            <a:extLst>
              <a:ext uri="{FF2B5EF4-FFF2-40B4-BE49-F238E27FC236}">
                <a16:creationId xmlns:a16="http://schemas.microsoft.com/office/drawing/2014/main" id="{DC2D6392-6896-8C1E-4480-733C2B2057BD}"/>
              </a:ext>
            </a:extLst>
          </p:cNvPr>
          <p:cNvSpPr txBox="1"/>
          <p:nvPr/>
        </p:nvSpPr>
        <p:spPr>
          <a:xfrm>
            <a:off x="1422400" y="3378200"/>
            <a:ext cx="4394200" cy="138499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065F46"/>
                </a:solidFill>
                <a:latin typeface="Segoe UI" panose="020B0502040204020203" pitchFamily="34" charset="0"/>
              </a:rPr>
              <a:t>[+] GOALS &amp; MOTIVATIONS:
- Accelerate executive board decks from 3 days to 15 minutes
- Maintain immaculate corporate branding across 400+ slides
- Give AI autonomous control over native desktop applications</a:t>
            </a:r>
            <a:endParaRPr lang="fr-FR" sz="1200" b="1">
              <a:solidFill>
                <a:srgbClr val="065F46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AC310F3-0EA4-6932-D087-CD697A3F8F7B}"/>
              </a:ext>
            </a:extLst>
          </p:cNvPr>
          <p:cNvSpPr/>
          <p:nvPr/>
        </p:nvSpPr>
        <p:spPr>
          <a:xfrm>
            <a:off x="6223000" y="3276600"/>
            <a:ext cx="4699000" cy="1778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2A04E31B-5C9E-78D5-4C8E-CE7C10985DC4}"/>
              </a:ext>
            </a:extLst>
          </p:cNvPr>
          <p:cNvSpPr txBox="1"/>
          <p:nvPr/>
        </p:nvSpPr>
        <p:spPr>
          <a:xfrm>
            <a:off x="6375400" y="3378200"/>
            <a:ext cx="4394200" cy="138499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991B1B"/>
                </a:solidFill>
                <a:latin typeface="Segoe UI" panose="020B0502040204020203" pitchFamily="34" charset="0"/>
              </a:rPr>
              <a:t>[-] PAIN POINTS &amp; FRICTIONS:
- Design friction and inconsistent typography across business units
- Tools that output static images rather than native editable slides
- Fragmented workflow between Python analysis and executive decks</a:t>
            </a:r>
            <a:endParaRPr lang="fr-FR" sz="1200" b="1">
              <a:solidFill>
                <a:srgbClr val="991B1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D7F8CA2-CFE7-66DD-8199-F1927244BC04}"/>
              </a:ext>
            </a:extLst>
          </p:cNvPr>
          <p:cNvSpPr/>
          <p:nvPr/>
        </p:nvSpPr>
        <p:spPr>
          <a:xfrm>
            <a:off x="1270000" y="5638800"/>
            <a:ext cx="1206500" cy="2794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475569"/>
                </a:solidFill>
                <a:latin typeface="Segoe UI" panose="020B0502040204020203" pitchFamily="34" charset="0"/>
              </a:rPr>
              <a:t>PowerPoint Live MCP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0E63F01-A2CB-7686-01B6-9A8C03784A35}"/>
              </a:ext>
            </a:extLst>
          </p:cNvPr>
          <p:cNvSpPr/>
          <p:nvPr/>
        </p:nvSpPr>
        <p:spPr>
          <a:xfrm>
            <a:off x="2578100" y="5638800"/>
            <a:ext cx="812800" cy="2794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475569"/>
                </a:solidFill>
                <a:latin typeface="Segoe UI" panose="020B0502040204020203" pitchFamily="34" charset="0"/>
              </a:rPr>
              <a:t>Python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4F409ED-7467-B7A0-DCB3-00A6FEC7AB89}"/>
              </a:ext>
            </a:extLst>
          </p:cNvPr>
          <p:cNvSpPr/>
          <p:nvPr/>
        </p:nvSpPr>
        <p:spPr>
          <a:xfrm>
            <a:off x="3492500" y="5638800"/>
            <a:ext cx="914400" cy="2794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475569"/>
                </a:solidFill>
                <a:latin typeface="Segoe UI" panose="020B0502040204020203" pitchFamily="34" charset="0"/>
              </a:rPr>
              <a:t>FastMCP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CAA471D-C3FD-4533-5F68-833D9306B379}"/>
              </a:ext>
            </a:extLst>
          </p:cNvPr>
          <p:cNvSpPr/>
          <p:nvPr/>
        </p:nvSpPr>
        <p:spPr>
          <a:xfrm>
            <a:off x="4508500" y="5638800"/>
            <a:ext cx="1206500" cy="2794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475569"/>
                </a:solidFill>
                <a:latin typeface="Segoe UI" panose="020B0502040204020203" pitchFamily="34" charset="0"/>
              </a:rPr>
              <a:t>Antigravity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9B79769-9A1D-7A2E-399E-000EA6A0905B}"/>
              </a:ext>
            </a:extLst>
          </p:cNvPr>
          <p:cNvSpPr/>
          <p:nvPr/>
        </p:nvSpPr>
        <p:spPr>
          <a:xfrm>
            <a:off x="5816600" y="5638800"/>
            <a:ext cx="1206500" cy="2794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475569"/>
                </a:solidFill>
                <a:latin typeface="Segoe UI" panose="020B0502040204020203" pitchFamily="34" charset="0"/>
              </a:rPr>
              <a:t>Office 365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EAF216-A82B-BE6A-417A-8C4BCC764B13}"/>
              </a:ext>
            </a:extLst>
          </p:cNvPr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4B52462E-172C-A4BF-55AB-B3960B739DFF}"/>
              </a:ext>
            </a:extLst>
          </p:cNvPr>
          <p:cNvSpPr txBox="1"/>
          <p:nvPr/>
        </p:nvSpPr>
        <p:spPr>
          <a:xfrm>
            <a:off x="508000" y="6477000"/>
            <a:ext cx="10160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PowerPoint Live MCP v0.6.0  |  Confidential &amp; Proprietary</a:t>
            </a:r>
            <a:endParaRPr lang="fr-FR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18" name="ZoneTexte 17">
            <a:extLst>
              <a:ext uri="{FF2B5EF4-FFF2-40B4-BE49-F238E27FC236}">
                <a16:creationId xmlns:a16="http://schemas.microsoft.com/office/drawing/2014/main" id="{7E9B0A22-2CF9-5383-D3E9-A7BA91DC9093}"/>
              </a:ext>
            </a:extLst>
          </p:cNvPr>
          <p:cNvSpPr txBox="1"/>
          <p:nvPr/>
        </p:nvSpPr>
        <p:spPr>
          <a:xfrm>
            <a:off x="10922000" y="6477000"/>
            <a:ext cx="762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1707435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65A1EF5A-8C55-043A-7389-39FDBAEE8F83}"/>
              </a:ext>
            </a:extLst>
          </p:cNvPr>
          <p:cNvSpPr txBox="1"/>
          <p:nvPr/>
        </p:nvSpPr>
        <p:spPr>
          <a:xfrm>
            <a:off x="1016000" y="508000"/>
            <a:ext cx="10160000" cy="512961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US" sz="2000" b="1">
                <a:solidFill>
                  <a:srgbClr val="0F172A"/>
                </a:solidFill>
                <a:latin typeface="Segoe UI" panose="020B0502040204020203" pitchFamily="34" charset="0"/>
              </a:rPr>
              <a:t>EXECUTIVE BUSINESS CASE &amp; ROI ANALYSIS</a:t>
            </a:r>
            <a:endParaRPr lang="fr-FR" sz="20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F7FD1D9-72B6-C126-5D80-FF7519134EA6}"/>
              </a:ext>
            </a:extLst>
          </p:cNvPr>
          <p:cNvSpPr/>
          <p:nvPr/>
        </p:nvSpPr>
        <p:spPr>
          <a:xfrm>
            <a:off x="1016000" y="1651000"/>
            <a:ext cx="10160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B7538F4-458B-F266-CC1D-17D011DD152F}"/>
              </a:ext>
            </a:extLst>
          </p:cNvPr>
          <p:cNvSpPr/>
          <p:nvPr/>
        </p:nvSpPr>
        <p:spPr>
          <a:xfrm>
            <a:off x="1219200" y="1854200"/>
            <a:ext cx="4470400" cy="34036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225BD602-6F37-8E40-F984-4956FD1B4D17}"/>
              </a:ext>
            </a:extLst>
          </p:cNvPr>
          <p:cNvSpPr txBox="1"/>
          <p:nvPr/>
        </p:nvSpPr>
        <p:spPr>
          <a:xfrm>
            <a:off x="1371600" y="2108200"/>
            <a:ext cx="4165600" cy="677108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3800" b="1">
                <a:solidFill>
                  <a:srgbClr val="065F46"/>
                </a:solidFill>
                <a:latin typeface="Segoe UI" panose="020B0502040204020203" pitchFamily="34" charset="0"/>
              </a:rPr>
              <a:t>$272,000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6E2C103-40CA-5B58-47A6-AE4B8521178D}"/>
              </a:ext>
            </a:extLst>
          </p:cNvPr>
          <p:cNvSpPr/>
          <p:nvPr/>
        </p:nvSpPr>
        <p:spPr>
          <a:xfrm>
            <a:off x="1371600" y="2971800"/>
            <a:ext cx="4165600" cy="3302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Segoe UI" panose="020B0502040204020203" pitchFamily="34" charset="0"/>
              </a:rPr>
              <a:t>[v] 85% ANNUAL SAVINGS</a:t>
            </a:r>
          </a:p>
        </p:txBody>
      </p:sp>
      <p:sp useBgFill="1">
        <p:nvSpPr>
          <p:cNvPr id="7" name="ZoneTexte 6">
            <a:extLst>
              <a:ext uri="{FF2B5EF4-FFF2-40B4-BE49-F238E27FC236}">
                <a16:creationId xmlns:a16="http://schemas.microsoft.com/office/drawing/2014/main" id="{1841EF30-AE03-5578-7AF0-58A5F71AC143}"/>
              </a:ext>
            </a:extLst>
          </p:cNvPr>
          <p:cNvSpPr txBox="1"/>
          <p:nvPr/>
        </p:nvSpPr>
        <p:spPr>
          <a:xfrm>
            <a:off x="1371600" y="3479800"/>
            <a:ext cx="4165600" cy="461665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047857"/>
                </a:solidFill>
                <a:latin typeface="Segoe UI" panose="020B0502040204020203" pitchFamily="34" charset="0"/>
              </a:rPr>
              <a:t>6,800 executive presentation hours saved per enterprise department annually.</a:t>
            </a:r>
            <a:endParaRPr lang="fr-FR" sz="1200">
              <a:solidFill>
                <a:srgbClr val="047857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8" name="ZoneTexte 7">
            <a:extLst>
              <a:ext uri="{FF2B5EF4-FFF2-40B4-BE49-F238E27FC236}">
                <a16:creationId xmlns:a16="http://schemas.microsoft.com/office/drawing/2014/main" id="{042462CF-D33C-76D3-1446-E7E5C63963B2}"/>
              </a:ext>
            </a:extLst>
          </p:cNvPr>
          <p:cNvSpPr txBox="1"/>
          <p:nvPr/>
        </p:nvSpPr>
        <p:spPr>
          <a:xfrm>
            <a:off x="5943600" y="1981200"/>
            <a:ext cx="5029200" cy="132343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94A3B8"/>
                </a:solidFill>
                <a:latin typeface="Segoe UI" panose="020B0502040204020203" pitchFamily="34" charset="0"/>
              </a:rPr>
              <a:t>PREVIOUS MANUAL COST
$320,000 / yr (Manual Agency &amp; Hours)
AUTOMATED LIVE MCP COST
$48,000 / yr (PowerPoint Live MCP)
ESTIMATED PAYBACK PERIOD
1.4 Months</a:t>
            </a:r>
            <a:endParaRPr lang="fr-FR" sz="1000" b="1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9DF3FB-CD21-28B4-8B20-66AC61F73450}"/>
              </a:ext>
            </a:extLst>
          </p:cNvPr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10" name="ZoneTexte 9">
            <a:extLst>
              <a:ext uri="{FF2B5EF4-FFF2-40B4-BE49-F238E27FC236}">
                <a16:creationId xmlns:a16="http://schemas.microsoft.com/office/drawing/2014/main" id="{C813833A-10FE-E5A8-4CBF-9D5FFE3F492B}"/>
              </a:ext>
            </a:extLst>
          </p:cNvPr>
          <p:cNvSpPr txBox="1"/>
          <p:nvPr/>
        </p:nvSpPr>
        <p:spPr>
          <a:xfrm>
            <a:off x="508000" y="6477000"/>
            <a:ext cx="10160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PowerPoint Live MCP v0.6.0  |  Confidential &amp; Proprietary</a:t>
            </a:r>
            <a:endParaRPr lang="fr-FR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11" name="ZoneTexte 10">
            <a:extLst>
              <a:ext uri="{FF2B5EF4-FFF2-40B4-BE49-F238E27FC236}">
                <a16:creationId xmlns:a16="http://schemas.microsoft.com/office/drawing/2014/main" id="{125537DE-B963-70D1-AF8D-9E5C81B11263}"/>
              </a:ext>
            </a:extLst>
          </p:cNvPr>
          <p:cNvSpPr txBox="1"/>
          <p:nvPr/>
        </p:nvSpPr>
        <p:spPr>
          <a:xfrm>
            <a:off x="10922000" y="6477000"/>
            <a:ext cx="762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Slide 6</a:t>
            </a:r>
          </a:p>
        </p:txBody>
      </p:sp>
    </p:spTree>
    <p:extLst>
      <p:ext uri="{BB962C8B-B14F-4D97-AF65-F5344CB8AC3E}">
        <p14:creationId xmlns:p14="http://schemas.microsoft.com/office/powerpoint/2010/main" val="351068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ZoneTexte 1">
            <a:extLst>
              <a:ext uri="{FF2B5EF4-FFF2-40B4-BE49-F238E27FC236}">
                <a16:creationId xmlns:a16="http://schemas.microsoft.com/office/drawing/2014/main" id="{AF75D8A8-DD14-5DC3-D916-07F471D56A5B}"/>
              </a:ext>
            </a:extLst>
          </p:cNvPr>
          <p:cNvSpPr txBox="1"/>
          <p:nvPr/>
        </p:nvSpPr>
        <p:spPr>
          <a:xfrm>
            <a:off x="1016000" y="508000"/>
            <a:ext cx="10160000" cy="512961"/>
          </a:xfrm>
          <a:prstGeom prst="rect">
            <a:avLst/>
          </a:prstGeom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fr-FR" sz="2000" b="1">
                <a:solidFill>
                  <a:srgbClr val="0F172A"/>
                </a:solidFill>
                <a:latin typeface="Segoe UI" panose="020B0502040204020203" pitchFamily="34" charset="0"/>
              </a:rPr>
              <a:t>REAL-TIME PLATFORM PERFORMANCE DASHBOARD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E8E5A93-C0C1-F3BD-25CB-40580F04DD11}"/>
              </a:ext>
            </a:extLst>
          </p:cNvPr>
          <p:cNvSpPr/>
          <p:nvPr/>
        </p:nvSpPr>
        <p:spPr>
          <a:xfrm>
            <a:off x="1016000" y="2032000"/>
            <a:ext cx="101600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4" name="ZoneTexte 3">
            <a:extLst>
              <a:ext uri="{FF2B5EF4-FFF2-40B4-BE49-F238E27FC236}">
                <a16:creationId xmlns:a16="http://schemas.microsoft.com/office/drawing/2014/main" id="{1D8302E2-3E95-96F0-AC73-2239B10AB8DE}"/>
              </a:ext>
            </a:extLst>
          </p:cNvPr>
          <p:cNvSpPr txBox="1"/>
          <p:nvPr/>
        </p:nvSpPr>
        <p:spPr>
          <a:xfrm>
            <a:off x="1219200" y="2209800"/>
            <a:ext cx="2133600" cy="523220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99.99%</a:t>
            </a:r>
          </a:p>
        </p:txBody>
      </p:sp>
      <p:sp useBgFill="1">
        <p:nvSpPr>
          <p:cNvPr id="5" name="ZoneTexte 4">
            <a:extLst>
              <a:ext uri="{FF2B5EF4-FFF2-40B4-BE49-F238E27FC236}">
                <a16:creationId xmlns:a16="http://schemas.microsoft.com/office/drawing/2014/main" id="{F2AB5293-83FB-E395-DCF1-D7AFC55613A6}"/>
              </a:ext>
            </a:extLst>
          </p:cNvPr>
          <p:cNvSpPr txBox="1"/>
          <p:nvPr/>
        </p:nvSpPr>
        <p:spPr>
          <a:xfrm>
            <a:off x="1219200" y="2743200"/>
            <a:ext cx="21336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64748B"/>
                </a:solidFill>
                <a:latin typeface="Segoe UI" panose="020B0502040204020203" pitchFamily="34" charset="0"/>
              </a:rPr>
              <a:t>COM Bridge Reliability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6AF5B0D-CDC2-FF83-145C-E7740F9EAB64}"/>
              </a:ext>
            </a:extLst>
          </p:cNvPr>
          <p:cNvSpPr/>
          <p:nvPr/>
        </p:nvSpPr>
        <p:spPr>
          <a:xfrm>
            <a:off x="1219200" y="3149600"/>
            <a:ext cx="1358900" cy="2794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10B981"/>
                </a:solidFill>
                <a:latin typeface="Segoe UI" panose="020B0502040204020203" pitchFamily="34" charset="0"/>
              </a:rPr>
              <a:t>+0.05% vs SLA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53821A-4158-EE86-E608-60176AC9674C}"/>
              </a:ext>
            </a:extLst>
          </p:cNvPr>
          <p:cNvSpPr/>
          <p:nvPr/>
        </p:nvSpPr>
        <p:spPr>
          <a:xfrm>
            <a:off x="3556000" y="2222500"/>
            <a:ext cx="12700" cy="1397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8" name="ZoneTexte 7">
            <a:extLst>
              <a:ext uri="{FF2B5EF4-FFF2-40B4-BE49-F238E27FC236}">
                <a16:creationId xmlns:a16="http://schemas.microsoft.com/office/drawing/2014/main" id="{0129A2FB-0223-1C90-7B91-6D73715A76D3}"/>
              </a:ext>
            </a:extLst>
          </p:cNvPr>
          <p:cNvSpPr txBox="1"/>
          <p:nvPr/>
        </p:nvSpPr>
        <p:spPr>
          <a:xfrm>
            <a:off x="3759200" y="2209800"/>
            <a:ext cx="2133600" cy="523220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18.4k</a:t>
            </a:r>
          </a:p>
        </p:txBody>
      </p:sp>
      <p:sp useBgFill="1">
        <p:nvSpPr>
          <p:cNvPr id="9" name="ZoneTexte 8">
            <a:extLst>
              <a:ext uri="{FF2B5EF4-FFF2-40B4-BE49-F238E27FC236}">
                <a16:creationId xmlns:a16="http://schemas.microsoft.com/office/drawing/2014/main" id="{0AA9A8BB-C498-F107-AC9B-8CB2A8489816}"/>
              </a:ext>
            </a:extLst>
          </p:cNvPr>
          <p:cNvSpPr txBox="1"/>
          <p:nvPr/>
        </p:nvSpPr>
        <p:spPr>
          <a:xfrm>
            <a:off x="3759200" y="2743200"/>
            <a:ext cx="21336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64748B"/>
                </a:solidFill>
                <a:latin typeface="Segoe UI" panose="020B0502040204020203" pitchFamily="34" charset="0"/>
              </a:rPr>
              <a:t>Automated Shapes / Day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258AEC8-6C8F-ADEC-C035-61C94AF32E9F}"/>
              </a:ext>
            </a:extLst>
          </p:cNvPr>
          <p:cNvSpPr/>
          <p:nvPr/>
        </p:nvSpPr>
        <p:spPr>
          <a:xfrm>
            <a:off x="3759200" y="3149600"/>
            <a:ext cx="914400" cy="2794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10B981"/>
                </a:solidFill>
                <a:latin typeface="Segoe UI" panose="020B0502040204020203" pitchFamily="34" charset="0"/>
              </a:rPr>
              <a:t>+42% MoM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58E24C-4DB1-E0BE-1727-EA1CA8C1E3F0}"/>
              </a:ext>
            </a:extLst>
          </p:cNvPr>
          <p:cNvSpPr/>
          <p:nvPr/>
        </p:nvSpPr>
        <p:spPr>
          <a:xfrm>
            <a:off x="6096000" y="2222500"/>
            <a:ext cx="12700" cy="1397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12" name="ZoneTexte 11">
            <a:extLst>
              <a:ext uri="{FF2B5EF4-FFF2-40B4-BE49-F238E27FC236}">
                <a16:creationId xmlns:a16="http://schemas.microsoft.com/office/drawing/2014/main" id="{D4CAC061-E6C2-C86D-FD62-679B87FBAE7E}"/>
              </a:ext>
            </a:extLst>
          </p:cNvPr>
          <p:cNvSpPr txBox="1"/>
          <p:nvPr/>
        </p:nvSpPr>
        <p:spPr>
          <a:xfrm>
            <a:off x="6299200" y="2209800"/>
            <a:ext cx="2133600" cy="523220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85ms</a:t>
            </a:r>
          </a:p>
        </p:txBody>
      </p:sp>
      <p:sp useBgFill="1">
        <p:nvSpPr>
          <p:cNvPr id="13" name="ZoneTexte 12">
            <a:extLst>
              <a:ext uri="{FF2B5EF4-FFF2-40B4-BE49-F238E27FC236}">
                <a16:creationId xmlns:a16="http://schemas.microsoft.com/office/drawing/2014/main" id="{53BA5A8A-B0D4-D667-92B2-B154CE3F3CEB}"/>
              </a:ext>
            </a:extLst>
          </p:cNvPr>
          <p:cNvSpPr txBox="1"/>
          <p:nvPr/>
        </p:nvSpPr>
        <p:spPr>
          <a:xfrm>
            <a:off x="6299200" y="2743200"/>
            <a:ext cx="21336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64748B"/>
                </a:solidFill>
                <a:latin typeface="Segoe UI" panose="020B0502040204020203" pitchFamily="34" charset="0"/>
              </a:rPr>
              <a:t>Avg Command Latency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3ED0A32-C153-CD58-0279-6563AAFD6C7A}"/>
              </a:ext>
            </a:extLst>
          </p:cNvPr>
          <p:cNvSpPr/>
          <p:nvPr/>
        </p:nvSpPr>
        <p:spPr>
          <a:xfrm>
            <a:off x="6299200" y="3149600"/>
            <a:ext cx="1270000" cy="2794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10B981"/>
                </a:solidFill>
                <a:latin typeface="Segoe UI" panose="020B0502040204020203" pitchFamily="34" charset="0"/>
              </a:rPr>
              <a:t>-18ms faster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C2773F-7690-5EAB-D0E3-0CE67B29B880}"/>
              </a:ext>
            </a:extLst>
          </p:cNvPr>
          <p:cNvSpPr/>
          <p:nvPr/>
        </p:nvSpPr>
        <p:spPr>
          <a:xfrm>
            <a:off x="8636000" y="2222500"/>
            <a:ext cx="12700" cy="13970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Segoe UI" panose="020B0502040204020203" pitchFamily="34" charset="0"/>
            </a:endParaRPr>
          </a:p>
        </p:txBody>
      </p:sp>
      <p:sp useBgFill="1">
        <p:nvSpPr>
          <p:cNvPr id="16" name="ZoneTexte 15">
            <a:extLst>
              <a:ext uri="{FF2B5EF4-FFF2-40B4-BE49-F238E27FC236}">
                <a16:creationId xmlns:a16="http://schemas.microsoft.com/office/drawing/2014/main" id="{D5AC420A-580C-3E5B-E65F-0B91D8DD1129}"/>
              </a:ext>
            </a:extLst>
          </p:cNvPr>
          <p:cNvSpPr txBox="1"/>
          <p:nvPr/>
        </p:nvSpPr>
        <p:spPr>
          <a:xfrm>
            <a:off x="8839200" y="2209800"/>
            <a:ext cx="2133600" cy="523220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2800" b="1">
                <a:solidFill>
                  <a:srgbClr val="0F172A"/>
                </a:solidFill>
                <a:latin typeface="Segoe UI" panose="020B0502040204020203" pitchFamily="34" charset="0"/>
              </a:rPr>
              <a:t>72</a:t>
            </a:r>
          </a:p>
        </p:txBody>
      </p:sp>
      <p:sp useBgFill="1">
        <p:nvSpPr>
          <p:cNvPr id="17" name="ZoneTexte 16">
            <a:extLst>
              <a:ext uri="{FF2B5EF4-FFF2-40B4-BE49-F238E27FC236}">
                <a16:creationId xmlns:a16="http://schemas.microsoft.com/office/drawing/2014/main" id="{C32116F8-7E31-2124-E037-5CDD2415A748}"/>
              </a:ext>
            </a:extLst>
          </p:cNvPr>
          <p:cNvSpPr txBox="1"/>
          <p:nvPr/>
        </p:nvSpPr>
        <p:spPr>
          <a:xfrm>
            <a:off x="8839200" y="2743200"/>
            <a:ext cx="2133600" cy="276999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fr-FR" sz="1200" b="1">
                <a:solidFill>
                  <a:srgbClr val="64748B"/>
                </a:solidFill>
                <a:latin typeface="Segoe UI" panose="020B0502040204020203" pitchFamily="34" charset="0"/>
              </a:rPr>
              <a:t>Active MCP Tools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847AB68-7145-F323-3D56-2E2885C7F7ED}"/>
              </a:ext>
            </a:extLst>
          </p:cNvPr>
          <p:cNvSpPr/>
          <p:nvPr/>
        </p:nvSpPr>
        <p:spPr>
          <a:xfrm>
            <a:off x="8839200" y="3149600"/>
            <a:ext cx="1270000" cy="2794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10B981"/>
                </a:solidFill>
                <a:latin typeface="Segoe UI" panose="020B0502040204020203" pitchFamily="34" charset="0"/>
              </a:rPr>
              <a:t>v0.6.0 Suite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76A531-6BFA-A986-6F7B-58C188A5176A}"/>
              </a:ext>
            </a:extLst>
          </p:cNvPr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 useBgFill="1">
        <p:nvSpPr>
          <p:cNvPr id="20" name="ZoneTexte 19">
            <a:extLst>
              <a:ext uri="{FF2B5EF4-FFF2-40B4-BE49-F238E27FC236}">
                <a16:creationId xmlns:a16="http://schemas.microsoft.com/office/drawing/2014/main" id="{16FBBBE7-6C78-6FCE-67D3-82EB29DCCC60}"/>
              </a:ext>
            </a:extLst>
          </p:cNvPr>
          <p:cNvSpPr txBox="1"/>
          <p:nvPr/>
        </p:nvSpPr>
        <p:spPr>
          <a:xfrm>
            <a:off x="508000" y="6477000"/>
            <a:ext cx="10160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94A3B8"/>
                </a:solidFill>
                <a:latin typeface="Segoe UI" panose="020B0502040204020203" pitchFamily="34" charset="0"/>
              </a:rPr>
              <a:t>PowerPoint Live MCP v0.6.0  |  Confidential &amp; Proprietary</a:t>
            </a:r>
            <a:endParaRPr lang="fr-FR" sz="1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 useBgFill="1">
        <p:nvSpPr>
          <p:cNvPr id="21" name="ZoneTexte 20">
            <a:extLst>
              <a:ext uri="{FF2B5EF4-FFF2-40B4-BE49-F238E27FC236}">
                <a16:creationId xmlns:a16="http://schemas.microsoft.com/office/drawing/2014/main" id="{6672C7F6-8CA4-ABE6-215D-D670A6669FE3}"/>
              </a:ext>
            </a:extLst>
          </p:cNvPr>
          <p:cNvSpPr txBox="1"/>
          <p:nvPr/>
        </p:nvSpPr>
        <p:spPr>
          <a:xfrm>
            <a:off x="10922000" y="6477000"/>
            <a:ext cx="762000" cy="246221"/>
          </a:xfrm>
          <a:prstGeom prst="rect">
            <a:avLst/>
          </a:prstGeom>
        </p:spPr>
        <p:txBody>
          <a:bodyPr vert="horz" rtlCol="0">
            <a:spAutoFit/>
          </a:bodyPr>
          <a:lstStyle/>
          <a:p>
            <a:pPr algn="r"/>
            <a:r>
              <a:rPr lang="fr-FR" sz="1000">
                <a:solidFill>
                  <a:srgbClr val="94A3B8"/>
                </a:solidFill>
                <a:latin typeface="Segoe UI" panose="020B0502040204020203" pitchFamily="34" charset="0"/>
              </a:rPr>
              <a:t>Slide 7</a:t>
            </a:r>
          </a:p>
        </p:txBody>
      </p:sp>
    </p:spTree>
    <p:extLst>
      <p:ext uri="{BB962C8B-B14F-4D97-AF65-F5344CB8AC3E}">
        <p14:creationId xmlns:p14="http://schemas.microsoft.com/office/powerpoint/2010/main" val="299471664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Personnalisé</PresentationFormat>
  <Paragraphs>81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Oussama OUNS</dc:creator>
  <cp:lastModifiedBy>Oussama OUNS</cp:lastModifiedBy>
  <cp:revision>1</cp:revision>
  <dcterms:created xsi:type="dcterms:W3CDTF">2026-10-18T15:01:50Z</dcterms:created>
  <dcterms:modified xsi:type="dcterms:W3CDTF">2026-10-18T15:01:50Z</dcterms:modified>
</cp:coreProperties>
</file>