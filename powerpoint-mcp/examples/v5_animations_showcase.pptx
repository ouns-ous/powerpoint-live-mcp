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93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DBA84B-55EB-231A-B753-21DD826BB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53536B-24E7-95B6-1DF2-3D071C8BD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EA5A6B-C91D-3F9A-83D6-BECE07FD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8487E-5660-3981-E804-8F08BBEC3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4C9C27-F1CC-F791-9B33-93CEA33D9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118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D2C00-1866-A8FD-59A8-BE803A356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2E03E1-2C88-E8A9-A463-2AB46CC15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D94D5F-D4CF-269F-856E-78F4DA1D2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4C1D54-1EF7-031D-7D5D-F5367284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044B5A-E1B5-8185-DC70-5A8A6617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78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E380DE-362D-2164-30ED-483D777E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E1D8A6-28FE-F04F-DDB1-2AE79FB34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711399-6996-D468-9DCB-E7DF9176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30395D-66EB-94C8-2F87-A8296344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DE1500-C31B-6CE5-1997-299DAEB4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39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5169B-DCE4-84ED-43D5-7E44AE5DC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AFDB2F-CCAA-C69A-1F4A-014DAA0D8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2A7E49-61D5-9085-95B7-A7F8B943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E34F9A-D80E-9C1B-0B7D-137B0D8D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A5638B-C755-A445-496B-A990D2B1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83B967-3F8E-C3BF-6DF5-E4226917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67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26DBE-5B4F-6F4F-4938-65A15E0F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89885F-34F7-44CB-B05B-29755D95F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0F0BE2-922C-1652-E98C-1681C7A75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3CB351-0F06-73DD-A530-7C5FC29E4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72FCC5-BC75-B417-32B7-7DCE7FED3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02AA971-2397-8A9E-B369-5076A39D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1B4F967-3260-2655-7531-BD1EE1CD5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CB78A65-4539-6F50-20E1-0BC10AE9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69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F9161B-AADD-5604-9539-CC58221AF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F7FA7FE-FCA4-7610-3BD8-94C170D4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B0D2D2-6E42-D399-7F1B-08676C25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A256CD-D108-E24E-CE78-D3014CB6F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00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4D829D7-29B3-FA3F-17ED-7A399B0B4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658560A-12B0-EDD3-CA63-053F8285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70DDDC-FFDB-17FB-36DA-03112962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17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3EC85A-79F5-45D8-EEF8-441EFB5CF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7ED337-C37E-EA7E-550B-4E388ECE5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A97B2E-9815-81A7-71D3-346CFF69E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554BD9-D906-B0C8-5650-4A92AF9D8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9F1915-DD32-D1C2-BD09-21F8CE00C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432EBF-2917-3C1D-43AF-5B4ADEF2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785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7B4AEC-FFD5-508E-A539-140FF2F4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21F686F-C3E1-D519-0914-A9714F2B1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9A78F2-9C04-39C5-88FA-424DAB3FC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362220-0DB0-2272-CE6A-C3B19AF9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BDF11A-68E1-3E5F-C86A-0D8264DF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BA39DB-0CC8-80F4-C334-F419820C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28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35414F-581E-B58D-ED41-32417C09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93FDBF-2B12-A0C4-6EAC-2D055D359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0DBE88-AB24-95E3-8489-8B42FFC3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0E1703-F0ED-C43B-7BBC-035C7D3B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B2EE79-E9F0-2013-F00B-87C11F7F6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103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5AA946B-D38B-E32C-6E2C-D7C62638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CB7C4E4-4D77-7D68-FEE7-349B5661A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B5D4EE-B7D4-A254-0544-B9DEB36E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8242CC-0A1E-B86C-D199-42D652663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CE5EB2-B1F1-C715-121F-CCDF4424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93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88A1480-8F56-B930-856C-4E157EC4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ECCD28-A18E-8758-ECFE-B7A1741E3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712B70-A9DC-E69D-8491-F9150EBEC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A550B-D817-42BC-B547-0848E321D709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FEC896-2BBE-3AFB-58B9-21163128B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63F138-57E9-66F4-9798-E4D6F68D0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897BA-732F-40D3-BC90-D2485D3EC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069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C8FA818-048D-B321-87BD-6E7D9840EB10}"/>
              </a:ext>
            </a:extLst>
          </p:cNvPr>
          <p:cNvSpPr txBox="1"/>
          <p:nvPr/>
        </p:nvSpPr>
        <p:spPr>
          <a:xfrm>
            <a:off x="1016000" y="508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b="1">
                <a:solidFill>
                  <a:srgbClr val="0F172A"/>
                </a:solidFill>
                <a:latin typeface="Segoe UI" panose="020B0502040204020203" pitchFamily="34" charset="0"/>
              </a:rPr>
              <a:t>Enterprise Architecture Modernization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C64DBEA-5143-9E2E-2031-E870A1EAB249}"/>
              </a:ext>
            </a:extLst>
          </p:cNvPr>
          <p:cNvSpPr/>
          <p:nvPr/>
        </p:nvSpPr>
        <p:spPr>
          <a:xfrm>
            <a:off x="1016000" y="1143000"/>
            <a:ext cx="2425700" cy="355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Segoe UI" panose="020B0502040204020203" pitchFamily="34" charset="0"/>
              </a:rPr>
              <a:t>[*] Core Legacy Audit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B81F527-CD48-6158-CC38-4AE616F46D17}"/>
              </a:ext>
            </a:extLst>
          </p:cNvPr>
          <p:cNvSpPr/>
          <p:nvPr/>
        </p:nvSpPr>
        <p:spPr>
          <a:xfrm>
            <a:off x="3594100" y="1143000"/>
            <a:ext cx="2425700" cy="355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 2. Protocol Migration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EB9BA55-9FAF-331F-43AE-DCF0B98F8684}"/>
              </a:ext>
            </a:extLst>
          </p:cNvPr>
          <p:cNvSpPr/>
          <p:nvPr/>
        </p:nvSpPr>
        <p:spPr>
          <a:xfrm>
            <a:off x="6172200" y="1143000"/>
            <a:ext cx="2425700" cy="355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 3. Agentic Orchestration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5A26FC3-26CC-3FEB-BF0B-9C012484DD83}"/>
              </a:ext>
            </a:extLst>
          </p:cNvPr>
          <p:cNvSpPr/>
          <p:nvPr/>
        </p:nvSpPr>
        <p:spPr>
          <a:xfrm>
            <a:off x="8750300" y="1143000"/>
            <a:ext cx="2425700" cy="355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 4. Global Deployment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1AA84E8-1112-1531-46D4-41D1B2152AC2}"/>
              </a:ext>
            </a:extLst>
          </p:cNvPr>
          <p:cNvSpPr/>
          <p:nvPr/>
        </p:nvSpPr>
        <p:spPr>
          <a:xfrm>
            <a:off x="1016000" y="1778000"/>
            <a:ext cx="2368550" cy="4064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3E14444-FA7A-484A-3419-3C61284A9BD5}"/>
              </a:ext>
            </a:extLst>
          </p:cNvPr>
          <p:cNvSpPr/>
          <p:nvPr/>
        </p:nvSpPr>
        <p:spPr>
          <a:xfrm>
            <a:off x="1066800" y="1803400"/>
            <a:ext cx="2266950" cy="508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CFF183-CB34-3D13-5C5C-82FA57C7DDA9}"/>
              </a:ext>
            </a:extLst>
          </p:cNvPr>
          <p:cNvSpPr/>
          <p:nvPr/>
        </p:nvSpPr>
        <p:spPr>
          <a:xfrm>
            <a:off x="1219200" y="1981200"/>
            <a:ext cx="406400" cy="4064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2E60897-F64C-7088-C7E6-E333A1AB64F6}"/>
              </a:ext>
            </a:extLst>
          </p:cNvPr>
          <p:cNvSpPr txBox="1"/>
          <p:nvPr/>
        </p:nvSpPr>
        <p:spPr>
          <a:xfrm>
            <a:off x="1219200" y="2489200"/>
            <a:ext cx="196215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Core Legacy Audit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102D7BB-BB18-A6D8-C256-E6A631E9D9B8}"/>
              </a:ext>
            </a:extLst>
          </p:cNvPr>
          <p:cNvSpPr txBox="1"/>
          <p:nvPr/>
        </p:nvSpPr>
        <p:spPr>
          <a:xfrm>
            <a:off x="1219200" y="3048000"/>
            <a:ext cx="196215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334155"/>
                </a:solidFill>
                <a:latin typeface="Segoe UI" panose="020B0502040204020203" pitchFamily="34" charset="0"/>
              </a:rPr>
              <a:t>Catalog 450+ microservices &amp; dependencies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DEDD46B-69EC-E03E-0900-65CFBB993343}"/>
              </a:ext>
            </a:extLst>
          </p:cNvPr>
          <p:cNvSpPr/>
          <p:nvPr/>
        </p:nvSpPr>
        <p:spPr>
          <a:xfrm>
            <a:off x="3613150" y="1778000"/>
            <a:ext cx="2368550" cy="4064000"/>
          </a:xfrm>
          <a:prstGeom prst="roundRect">
            <a:avLst/>
          </a:prstGeom>
          <a:solidFill>
            <a:srgbClr val="FAFAFA">
              <a:alpha val="50000"/>
            </a:srgbClr>
          </a:solidFill>
          <a:ln w="1270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74D8576-73DB-66E9-3C6C-79907866B954}"/>
              </a:ext>
            </a:extLst>
          </p:cNvPr>
          <p:cNvSpPr/>
          <p:nvPr/>
        </p:nvSpPr>
        <p:spPr>
          <a:xfrm>
            <a:off x="3816350" y="1981200"/>
            <a:ext cx="406400" cy="406400"/>
          </a:xfrm>
          <a:prstGeom prst="ellipse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94A3B8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4835EF5-B55C-3034-0972-A7B956FF01C4}"/>
              </a:ext>
            </a:extLst>
          </p:cNvPr>
          <p:cNvSpPr txBox="1"/>
          <p:nvPr/>
        </p:nvSpPr>
        <p:spPr>
          <a:xfrm>
            <a:off x="381635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94A3B8"/>
                </a:solidFill>
                <a:latin typeface="Segoe UI" panose="020B0502040204020203" pitchFamily="34" charset="0"/>
              </a:rPr>
              <a:t>Protocol Migration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5E746E6-5414-AF4A-3983-C2723AAD514B}"/>
              </a:ext>
            </a:extLst>
          </p:cNvPr>
          <p:cNvSpPr txBox="1"/>
          <p:nvPr/>
        </p:nvSpPr>
        <p:spPr>
          <a:xfrm>
            <a:off x="3816350" y="3048000"/>
            <a:ext cx="196215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BD5E1"/>
                </a:solidFill>
                <a:latin typeface="Segoe UI" panose="020B0502040204020203" pitchFamily="34" charset="0"/>
              </a:rPr>
              <a:t>Standardize data exchanges on FastMCP &amp; JSON schemas</a:t>
            </a:r>
            <a:endParaRPr lang="fr-FR" sz="11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6A82DC4-F9B3-35BC-7D79-347C1CFE5336}"/>
              </a:ext>
            </a:extLst>
          </p:cNvPr>
          <p:cNvSpPr/>
          <p:nvPr/>
        </p:nvSpPr>
        <p:spPr>
          <a:xfrm>
            <a:off x="6210300" y="1778000"/>
            <a:ext cx="2368550" cy="4064000"/>
          </a:xfrm>
          <a:prstGeom prst="roundRect">
            <a:avLst/>
          </a:prstGeom>
          <a:solidFill>
            <a:srgbClr val="FAFAFA">
              <a:alpha val="50000"/>
            </a:srgbClr>
          </a:solidFill>
          <a:ln w="1270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5F13653-F4E0-0959-CA5C-F38E905D6254}"/>
              </a:ext>
            </a:extLst>
          </p:cNvPr>
          <p:cNvSpPr/>
          <p:nvPr/>
        </p:nvSpPr>
        <p:spPr>
          <a:xfrm>
            <a:off x="6413500" y="1981200"/>
            <a:ext cx="406400" cy="406400"/>
          </a:xfrm>
          <a:prstGeom prst="ellipse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94A3B8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D04FADF-801F-2537-F5ED-34AC1EBDA6DB}"/>
              </a:ext>
            </a:extLst>
          </p:cNvPr>
          <p:cNvSpPr txBox="1"/>
          <p:nvPr/>
        </p:nvSpPr>
        <p:spPr>
          <a:xfrm>
            <a:off x="641350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94A3B8"/>
                </a:solidFill>
                <a:latin typeface="Segoe UI" panose="020B0502040204020203" pitchFamily="34" charset="0"/>
              </a:rPr>
              <a:t>Agentic Orchestration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089D020-6DD9-2750-5772-73F6E24FB3BA}"/>
              </a:ext>
            </a:extLst>
          </p:cNvPr>
          <p:cNvSpPr txBox="1"/>
          <p:nvPr/>
        </p:nvSpPr>
        <p:spPr>
          <a:xfrm>
            <a:off x="6413500" y="3048000"/>
            <a:ext cx="196215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BD5E1"/>
                </a:solidFill>
                <a:latin typeface="Segoe UI" panose="020B0502040204020203" pitchFamily="34" charset="0"/>
              </a:rPr>
              <a:t>Deploy autonomous AI agents with live COM control</a:t>
            </a:r>
            <a:endParaRPr lang="fr-FR" sz="11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37D804C-752D-DED4-2C53-2299AF49238F}"/>
              </a:ext>
            </a:extLst>
          </p:cNvPr>
          <p:cNvSpPr/>
          <p:nvPr/>
        </p:nvSpPr>
        <p:spPr>
          <a:xfrm>
            <a:off x="8807450" y="1778000"/>
            <a:ext cx="2368550" cy="4064000"/>
          </a:xfrm>
          <a:prstGeom prst="roundRect">
            <a:avLst/>
          </a:prstGeom>
          <a:solidFill>
            <a:srgbClr val="FAFAFA">
              <a:alpha val="50000"/>
            </a:srgbClr>
          </a:solidFill>
          <a:ln w="1270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83C4246-2FC0-3815-F72D-503A6218A7F5}"/>
              </a:ext>
            </a:extLst>
          </p:cNvPr>
          <p:cNvSpPr/>
          <p:nvPr/>
        </p:nvSpPr>
        <p:spPr>
          <a:xfrm>
            <a:off x="9010650" y="1981200"/>
            <a:ext cx="406400" cy="406400"/>
          </a:xfrm>
          <a:prstGeom prst="ellipse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94A3B8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4784481-7290-F897-498D-155B0C4AC0DA}"/>
              </a:ext>
            </a:extLst>
          </p:cNvPr>
          <p:cNvSpPr txBox="1"/>
          <p:nvPr/>
        </p:nvSpPr>
        <p:spPr>
          <a:xfrm>
            <a:off x="901065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94A3B8"/>
                </a:solidFill>
                <a:latin typeface="Segoe UI" panose="020B0502040204020203" pitchFamily="34" charset="0"/>
              </a:rPr>
              <a:t>Global Deployment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6BBC6B3-74BC-B0CE-6AE7-5E680A80060D}"/>
              </a:ext>
            </a:extLst>
          </p:cNvPr>
          <p:cNvSpPr txBox="1"/>
          <p:nvPr/>
        </p:nvSpPr>
        <p:spPr>
          <a:xfrm>
            <a:off x="9010650" y="3048000"/>
            <a:ext cx="196215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BD5E1"/>
                </a:solidFill>
                <a:latin typeface="Segoe UI" panose="020B0502040204020203" pitchFamily="34" charset="0"/>
              </a:rPr>
              <a:t>Roll out to 15,000 corporate workstations worldwide</a:t>
            </a:r>
            <a:endParaRPr lang="fr-FR" sz="11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088045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E3637A5-C14E-E17B-109B-040163EA3AFC}"/>
              </a:ext>
            </a:extLst>
          </p:cNvPr>
          <p:cNvSpPr txBox="1"/>
          <p:nvPr/>
        </p:nvSpPr>
        <p:spPr>
          <a:xfrm>
            <a:off x="1016000" y="508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b="1">
                <a:solidFill>
                  <a:srgbClr val="0F172A"/>
                </a:solidFill>
                <a:latin typeface="Segoe UI" panose="020B0502040204020203" pitchFamily="34" charset="0"/>
              </a:rPr>
              <a:t>Enterprise Architecture Modernization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C8D42C9-C752-7F63-2079-4A9FDB877BF5}"/>
              </a:ext>
            </a:extLst>
          </p:cNvPr>
          <p:cNvSpPr/>
          <p:nvPr/>
        </p:nvSpPr>
        <p:spPr>
          <a:xfrm>
            <a:off x="1016000" y="1143000"/>
            <a:ext cx="2425700" cy="3556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10B981"/>
                </a:solidFill>
                <a:latin typeface="Segoe UI" panose="020B0502040204020203" pitchFamily="34" charset="0"/>
              </a:rPr>
              <a:t>[v] Core Legacy Audit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CEE056A-62F7-A4EF-859E-02873CC3698A}"/>
              </a:ext>
            </a:extLst>
          </p:cNvPr>
          <p:cNvSpPr/>
          <p:nvPr/>
        </p:nvSpPr>
        <p:spPr>
          <a:xfrm>
            <a:off x="3594100" y="1143000"/>
            <a:ext cx="2425700" cy="355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Segoe UI" panose="020B0502040204020203" pitchFamily="34" charset="0"/>
              </a:rPr>
              <a:t>[*] Protocol Migration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4D7EBBF-8F84-380D-A86D-9757FFD0CBBE}"/>
              </a:ext>
            </a:extLst>
          </p:cNvPr>
          <p:cNvSpPr/>
          <p:nvPr/>
        </p:nvSpPr>
        <p:spPr>
          <a:xfrm>
            <a:off x="6172200" y="1143000"/>
            <a:ext cx="2425700" cy="355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 3. Agentic Orchestration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83915A6-EE36-1B4D-62FE-71811D88C470}"/>
              </a:ext>
            </a:extLst>
          </p:cNvPr>
          <p:cNvSpPr/>
          <p:nvPr/>
        </p:nvSpPr>
        <p:spPr>
          <a:xfrm>
            <a:off x="8750300" y="1143000"/>
            <a:ext cx="2425700" cy="355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 4. Global Deployment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881D929-BE66-68A6-3319-79403169F9E7}"/>
              </a:ext>
            </a:extLst>
          </p:cNvPr>
          <p:cNvSpPr/>
          <p:nvPr/>
        </p:nvSpPr>
        <p:spPr>
          <a:xfrm>
            <a:off x="1016000" y="1778000"/>
            <a:ext cx="2368550" cy="4064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01C806D-896E-5391-A5DD-55A3638F8F1E}"/>
              </a:ext>
            </a:extLst>
          </p:cNvPr>
          <p:cNvSpPr/>
          <p:nvPr/>
        </p:nvSpPr>
        <p:spPr>
          <a:xfrm>
            <a:off x="1219200" y="1981200"/>
            <a:ext cx="406400" cy="4064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[v]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D52D303-3D06-C4A5-E13E-0788FE2E44DD}"/>
              </a:ext>
            </a:extLst>
          </p:cNvPr>
          <p:cNvSpPr txBox="1"/>
          <p:nvPr/>
        </p:nvSpPr>
        <p:spPr>
          <a:xfrm>
            <a:off x="121920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475569"/>
                </a:solidFill>
                <a:latin typeface="Segoe UI" panose="020B0502040204020203" pitchFamily="34" charset="0"/>
              </a:rPr>
              <a:t>Core Legacy Audit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AB5C385-926E-854F-98FD-8C8B0B9232D9}"/>
              </a:ext>
            </a:extLst>
          </p:cNvPr>
          <p:cNvSpPr txBox="1"/>
          <p:nvPr/>
        </p:nvSpPr>
        <p:spPr>
          <a:xfrm>
            <a:off x="1219200" y="3048000"/>
            <a:ext cx="196215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64748B"/>
                </a:solidFill>
                <a:latin typeface="Segoe UI" panose="020B0502040204020203" pitchFamily="34" charset="0"/>
              </a:rPr>
              <a:t>Catalog 450+ microservices &amp; dependencies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6F3AE0F-032B-9CB0-B6D5-E8952C267490}"/>
              </a:ext>
            </a:extLst>
          </p:cNvPr>
          <p:cNvSpPr/>
          <p:nvPr/>
        </p:nvSpPr>
        <p:spPr>
          <a:xfrm>
            <a:off x="3613150" y="1778000"/>
            <a:ext cx="2368550" cy="4064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2210E91-4049-257E-9CC8-1F59508E1979}"/>
              </a:ext>
            </a:extLst>
          </p:cNvPr>
          <p:cNvSpPr/>
          <p:nvPr/>
        </p:nvSpPr>
        <p:spPr>
          <a:xfrm>
            <a:off x="3663950" y="1803400"/>
            <a:ext cx="2266950" cy="508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0189D9D-D45F-4719-E3F1-82F8E413F633}"/>
              </a:ext>
            </a:extLst>
          </p:cNvPr>
          <p:cNvSpPr/>
          <p:nvPr/>
        </p:nvSpPr>
        <p:spPr>
          <a:xfrm>
            <a:off x="3816350" y="1981200"/>
            <a:ext cx="406400" cy="4064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E563991-0822-CC37-43DD-D037B43D203B}"/>
              </a:ext>
            </a:extLst>
          </p:cNvPr>
          <p:cNvSpPr txBox="1"/>
          <p:nvPr/>
        </p:nvSpPr>
        <p:spPr>
          <a:xfrm>
            <a:off x="3816350" y="2489200"/>
            <a:ext cx="196215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Protocol Migration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BE909D9-398C-92C2-D810-D08C75772065}"/>
              </a:ext>
            </a:extLst>
          </p:cNvPr>
          <p:cNvSpPr txBox="1"/>
          <p:nvPr/>
        </p:nvSpPr>
        <p:spPr>
          <a:xfrm>
            <a:off x="3816350" y="3048000"/>
            <a:ext cx="196215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334155"/>
                </a:solidFill>
                <a:latin typeface="Segoe UI" panose="020B0502040204020203" pitchFamily="34" charset="0"/>
              </a:rPr>
              <a:t>Standardize data exchanges on FastMCP &amp; JSON schemas</a:t>
            </a:r>
            <a:endParaRPr lang="fr-FR" sz="12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8C583A6-BF81-E9B5-9768-68EED31BF6A7}"/>
              </a:ext>
            </a:extLst>
          </p:cNvPr>
          <p:cNvSpPr/>
          <p:nvPr/>
        </p:nvSpPr>
        <p:spPr>
          <a:xfrm>
            <a:off x="6210300" y="1778000"/>
            <a:ext cx="2368550" cy="4064000"/>
          </a:xfrm>
          <a:prstGeom prst="roundRect">
            <a:avLst/>
          </a:prstGeom>
          <a:solidFill>
            <a:srgbClr val="FAFAFA">
              <a:alpha val="50000"/>
            </a:srgbClr>
          </a:solidFill>
          <a:ln w="1270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69FAB60-38C2-CB69-9BF1-61AAABB53A8D}"/>
              </a:ext>
            </a:extLst>
          </p:cNvPr>
          <p:cNvSpPr/>
          <p:nvPr/>
        </p:nvSpPr>
        <p:spPr>
          <a:xfrm>
            <a:off x="6413500" y="1981200"/>
            <a:ext cx="406400" cy="406400"/>
          </a:xfrm>
          <a:prstGeom prst="ellipse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94A3B8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AF707E6-DF28-3953-5858-E1EB40AF7DDF}"/>
              </a:ext>
            </a:extLst>
          </p:cNvPr>
          <p:cNvSpPr txBox="1"/>
          <p:nvPr/>
        </p:nvSpPr>
        <p:spPr>
          <a:xfrm>
            <a:off x="641350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94A3B8"/>
                </a:solidFill>
                <a:latin typeface="Segoe UI" panose="020B0502040204020203" pitchFamily="34" charset="0"/>
              </a:rPr>
              <a:t>Agentic Orchestration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1CAA656-BB2D-86D4-858F-6DD8027B1D36}"/>
              </a:ext>
            </a:extLst>
          </p:cNvPr>
          <p:cNvSpPr txBox="1"/>
          <p:nvPr/>
        </p:nvSpPr>
        <p:spPr>
          <a:xfrm>
            <a:off x="6413500" y="3048000"/>
            <a:ext cx="196215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BD5E1"/>
                </a:solidFill>
                <a:latin typeface="Segoe UI" panose="020B0502040204020203" pitchFamily="34" charset="0"/>
              </a:rPr>
              <a:t>Deploy autonomous AI agents with live COM control</a:t>
            </a:r>
            <a:endParaRPr lang="fr-FR" sz="11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EF935EA-584B-F347-BA47-599810E0F8B8}"/>
              </a:ext>
            </a:extLst>
          </p:cNvPr>
          <p:cNvSpPr/>
          <p:nvPr/>
        </p:nvSpPr>
        <p:spPr>
          <a:xfrm>
            <a:off x="8807450" y="1778000"/>
            <a:ext cx="2368550" cy="4064000"/>
          </a:xfrm>
          <a:prstGeom prst="roundRect">
            <a:avLst/>
          </a:prstGeom>
          <a:solidFill>
            <a:srgbClr val="FAFAFA">
              <a:alpha val="50000"/>
            </a:srgbClr>
          </a:solidFill>
          <a:ln w="1270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7A72635C-8E7A-7E64-2E75-F981206AEAD9}"/>
              </a:ext>
            </a:extLst>
          </p:cNvPr>
          <p:cNvSpPr/>
          <p:nvPr/>
        </p:nvSpPr>
        <p:spPr>
          <a:xfrm>
            <a:off x="9010650" y="1981200"/>
            <a:ext cx="406400" cy="406400"/>
          </a:xfrm>
          <a:prstGeom prst="ellipse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94A3B8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1E4CF93-2D55-BB56-B5C4-6CB723745989}"/>
              </a:ext>
            </a:extLst>
          </p:cNvPr>
          <p:cNvSpPr txBox="1"/>
          <p:nvPr/>
        </p:nvSpPr>
        <p:spPr>
          <a:xfrm>
            <a:off x="901065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94A3B8"/>
                </a:solidFill>
                <a:latin typeface="Segoe UI" panose="020B0502040204020203" pitchFamily="34" charset="0"/>
              </a:rPr>
              <a:t>Global Deployment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15C1481-D065-F65D-A9E5-F4F83350FC8B}"/>
              </a:ext>
            </a:extLst>
          </p:cNvPr>
          <p:cNvSpPr txBox="1"/>
          <p:nvPr/>
        </p:nvSpPr>
        <p:spPr>
          <a:xfrm>
            <a:off x="9010650" y="3048000"/>
            <a:ext cx="196215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BD5E1"/>
                </a:solidFill>
                <a:latin typeface="Segoe UI" panose="020B0502040204020203" pitchFamily="34" charset="0"/>
              </a:rPr>
              <a:t>Roll out to 15,000 corporate workstations worldwide</a:t>
            </a:r>
            <a:endParaRPr lang="fr-FR" sz="11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398041"/>
      </p:ext>
    </p:extLst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F7A6233-744E-6C81-3E1C-3B8B2AB40EAE}"/>
              </a:ext>
            </a:extLst>
          </p:cNvPr>
          <p:cNvSpPr txBox="1"/>
          <p:nvPr/>
        </p:nvSpPr>
        <p:spPr>
          <a:xfrm>
            <a:off x="1016000" y="508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b="1">
                <a:solidFill>
                  <a:srgbClr val="0F172A"/>
                </a:solidFill>
                <a:latin typeface="Segoe UI" panose="020B0502040204020203" pitchFamily="34" charset="0"/>
              </a:rPr>
              <a:t>Enterprise Architecture Modernization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8805C11-5B30-DE19-B89B-4ABC2578055D}"/>
              </a:ext>
            </a:extLst>
          </p:cNvPr>
          <p:cNvSpPr/>
          <p:nvPr/>
        </p:nvSpPr>
        <p:spPr>
          <a:xfrm>
            <a:off x="1016000" y="1143000"/>
            <a:ext cx="2425700" cy="3556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10B981"/>
                </a:solidFill>
                <a:latin typeface="Segoe UI" panose="020B0502040204020203" pitchFamily="34" charset="0"/>
              </a:rPr>
              <a:t>[v] Core Legacy Audit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2EB2033-57DF-3282-64CD-9A7945561077}"/>
              </a:ext>
            </a:extLst>
          </p:cNvPr>
          <p:cNvSpPr/>
          <p:nvPr/>
        </p:nvSpPr>
        <p:spPr>
          <a:xfrm>
            <a:off x="3594100" y="1143000"/>
            <a:ext cx="2425700" cy="3556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10B981"/>
                </a:solidFill>
                <a:latin typeface="Segoe UI" panose="020B0502040204020203" pitchFamily="34" charset="0"/>
              </a:rPr>
              <a:t>[v] Protocol Migration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4FED4D9-BB27-A7B6-4DE8-C4F2E7BD043B}"/>
              </a:ext>
            </a:extLst>
          </p:cNvPr>
          <p:cNvSpPr/>
          <p:nvPr/>
        </p:nvSpPr>
        <p:spPr>
          <a:xfrm>
            <a:off x="6172200" y="1143000"/>
            <a:ext cx="2425700" cy="355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Segoe UI" panose="020B0502040204020203" pitchFamily="34" charset="0"/>
              </a:rPr>
              <a:t>[*] Agentic Orchestration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9BE786A-7B58-98DB-338E-D3CD81655E9B}"/>
              </a:ext>
            </a:extLst>
          </p:cNvPr>
          <p:cNvSpPr/>
          <p:nvPr/>
        </p:nvSpPr>
        <p:spPr>
          <a:xfrm>
            <a:off x="8750300" y="1143000"/>
            <a:ext cx="2425700" cy="355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 4. Global Deployment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F25B914-CDBB-D886-8A55-0DE24F6B1056}"/>
              </a:ext>
            </a:extLst>
          </p:cNvPr>
          <p:cNvSpPr/>
          <p:nvPr/>
        </p:nvSpPr>
        <p:spPr>
          <a:xfrm>
            <a:off x="1016000" y="1778000"/>
            <a:ext cx="2368550" cy="4064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4D83560-C1F2-A350-3231-79C5BF215C35}"/>
              </a:ext>
            </a:extLst>
          </p:cNvPr>
          <p:cNvSpPr/>
          <p:nvPr/>
        </p:nvSpPr>
        <p:spPr>
          <a:xfrm>
            <a:off x="1219200" y="1981200"/>
            <a:ext cx="406400" cy="4064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[v]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A840E97-D216-0708-ECF1-EFC407CB0B9D}"/>
              </a:ext>
            </a:extLst>
          </p:cNvPr>
          <p:cNvSpPr txBox="1"/>
          <p:nvPr/>
        </p:nvSpPr>
        <p:spPr>
          <a:xfrm>
            <a:off x="121920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475569"/>
                </a:solidFill>
                <a:latin typeface="Segoe UI" panose="020B0502040204020203" pitchFamily="34" charset="0"/>
              </a:rPr>
              <a:t>Core Legacy Audit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BF7B489-8300-D70D-370E-B52FD6E37B86}"/>
              </a:ext>
            </a:extLst>
          </p:cNvPr>
          <p:cNvSpPr txBox="1"/>
          <p:nvPr/>
        </p:nvSpPr>
        <p:spPr>
          <a:xfrm>
            <a:off x="1219200" y="3048000"/>
            <a:ext cx="196215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64748B"/>
                </a:solidFill>
                <a:latin typeface="Segoe UI" panose="020B0502040204020203" pitchFamily="34" charset="0"/>
              </a:rPr>
              <a:t>Catalog 450+ microservices &amp; dependencies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2ABB15D-1BD9-7F44-C548-2838219731D1}"/>
              </a:ext>
            </a:extLst>
          </p:cNvPr>
          <p:cNvSpPr/>
          <p:nvPr/>
        </p:nvSpPr>
        <p:spPr>
          <a:xfrm>
            <a:off x="3613150" y="1778000"/>
            <a:ext cx="2368550" cy="4064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57AF28C-2541-7358-2838-E7947028E132}"/>
              </a:ext>
            </a:extLst>
          </p:cNvPr>
          <p:cNvSpPr/>
          <p:nvPr/>
        </p:nvSpPr>
        <p:spPr>
          <a:xfrm>
            <a:off x="3816350" y="1981200"/>
            <a:ext cx="406400" cy="4064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[v]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16EF12E-31E4-401F-F60B-94590698A4EB}"/>
              </a:ext>
            </a:extLst>
          </p:cNvPr>
          <p:cNvSpPr txBox="1"/>
          <p:nvPr/>
        </p:nvSpPr>
        <p:spPr>
          <a:xfrm>
            <a:off x="381635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475569"/>
                </a:solidFill>
                <a:latin typeface="Segoe UI" panose="020B0502040204020203" pitchFamily="34" charset="0"/>
              </a:rPr>
              <a:t>Protocol Migration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F0619AB-0FD5-DD19-43D4-BD70469443A2}"/>
              </a:ext>
            </a:extLst>
          </p:cNvPr>
          <p:cNvSpPr txBox="1"/>
          <p:nvPr/>
        </p:nvSpPr>
        <p:spPr>
          <a:xfrm>
            <a:off x="3816350" y="3048000"/>
            <a:ext cx="196215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Standardize data exchanges on FastMCP &amp; JSON schemas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7FE66F9-9F51-B8CB-89F8-243B30F044E8}"/>
              </a:ext>
            </a:extLst>
          </p:cNvPr>
          <p:cNvSpPr/>
          <p:nvPr/>
        </p:nvSpPr>
        <p:spPr>
          <a:xfrm>
            <a:off x="6210300" y="1778000"/>
            <a:ext cx="2368550" cy="4064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57B48B6-0925-3CF6-456F-5FDEB2995C9F}"/>
              </a:ext>
            </a:extLst>
          </p:cNvPr>
          <p:cNvSpPr/>
          <p:nvPr/>
        </p:nvSpPr>
        <p:spPr>
          <a:xfrm>
            <a:off x="6261100" y="1803400"/>
            <a:ext cx="2266950" cy="508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69D3D42-9B99-8701-88B1-F95C326B6B94}"/>
              </a:ext>
            </a:extLst>
          </p:cNvPr>
          <p:cNvSpPr/>
          <p:nvPr/>
        </p:nvSpPr>
        <p:spPr>
          <a:xfrm>
            <a:off x="6413500" y="1981200"/>
            <a:ext cx="406400" cy="4064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C032927-5ADC-20DA-A1C8-A917A0B458EE}"/>
              </a:ext>
            </a:extLst>
          </p:cNvPr>
          <p:cNvSpPr txBox="1"/>
          <p:nvPr/>
        </p:nvSpPr>
        <p:spPr>
          <a:xfrm>
            <a:off x="6413500" y="2489200"/>
            <a:ext cx="196215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Agentic Orchestration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BC63E47-4C0B-A1CF-A0F1-C1D54A6384FB}"/>
              </a:ext>
            </a:extLst>
          </p:cNvPr>
          <p:cNvSpPr txBox="1"/>
          <p:nvPr/>
        </p:nvSpPr>
        <p:spPr>
          <a:xfrm>
            <a:off x="6413500" y="3048000"/>
            <a:ext cx="196215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334155"/>
                </a:solidFill>
                <a:latin typeface="Segoe UI" panose="020B0502040204020203" pitchFamily="34" charset="0"/>
              </a:rPr>
              <a:t>Deploy autonomous AI agents with live COM control</a:t>
            </a:r>
            <a:endParaRPr lang="fr-FR" sz="12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7C04D47A-A451-487A-AF4E-4FD5A1163FF9}"/>
              </a:ext>
            </a:extLst>
          </p:cNvPr>
          <p:cNvSpPr/>
          <p:nvPr/>
        </p:nvSpPr>
        <p:spPr>
          <a:xfrm>
            <a:off x="8807450" y="1778000"/>
            <a:ext cx="2368550" cy="4064000"/>
          </a:xfrm>
          <a:prstGeom prst="roundRect">
            <a:avLst/>
          </a:prstGeom>
          <a:solidFill>
            <a:srgbClr val="FAFAFA">
              <a:alpha val="50000"/>
            </a:srgbClr>
          </a:solidFill>
          <a:ln w="1270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4620BF0-DC4B-2674-A25D-CDC6DE8464E5}"/>
              </a:ext>
            </a:extLst>
          </p:cNvPr>
          <p:cNvSpPr/>
          <p:nvPr/>
        </p:nvSpPr>
        <p:spPr>
          <a:xfrm>
            <a:off x="9010650" y="1981200"/>
            <a:ext cx="406400" cy="406400"/>
          </a:xfrm>
          <a:prstGeom prst="ellipse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94A3B8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758166C-8F37-C046-3202-1BA8E5522C58}"/>
              </a:ext>
            </a:extLst>
          </p:cNvPr>
          <p:cNvSpPr txBox="1"/>
          <p:nvPr/>
        </p:nvSpPr>
        <p:spPr>
          <a:xfrm>
            <a:off x="901065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94A3B8"/>
                </a:solidFill>
                <a:latin typeface="Segoe UI" panose="020B0502040204020203" pitchFamily="34" charset="0"/>
              </a:rPr>
              <a:t>Global Deployment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C0B4468-0EA7-9766-B7C7-7F0369DE3D8B}"/>
              </a:ext>
            </a:extLst>
          </p:cNvPr>
          <p:cNvSpPr txBox="1"/>
          <p:nvPr/>
        </p:nvSpPr>
        <p:spPr>
          <a:xfrm>
            <a:off x="9010650" y="3048000"/>
            <a:ext cx="196215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BD5E1"/>
                </a:solidFill>
                <a:latin typeface="Segoe UI" panose="020B0502040204020203" pitchFamily="34" charset="0"/>
              </a:rPr>
              <a:t>Roll out to 15,000 corporate workstations worldwide</a:t>
            </a:r>
            <a:endParaRPr lang="fr-FR" sz="11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020630"/>
      </p:ext>
    </p:extLst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6FABB53-B55A-9F4E-9C99-F1C94F5C56B3}"/>
              </a:ext>
            </a:extLst>
          </p:cNvPr>
          <p:cNvSpPr txBox="1"/>
          <p:nvPr/>
        </p:nvSpPr>
        <p:spPr>
          <a:xfrm>
            <a:off x="1016000" y="508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b="1">
                <a:solidFill>
                  <a:srgbClr val="0F172A"/>
                </a:solidFill>
                <a:latin typeface="Segoe UI" panose="020B0502040204020203" pitchFamily="34" charset="0"/>
              </a:rPr>
              <a:t>Enterprise Architecture Modernization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9720805-77F7-9AEC-DB91-9460E8393990}"/>
              </a:ext>
            </a:extLst>
          </p:cNvPr>
          <p:cNvSpPr/>
          <p:nvPr/>
        </p:nvSpPr>
        <p:spPr>
          <a:xfrm>
            <a:off x="1016000" y="1143000"/>
            <a:ext cx="2425700" cy="3556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10B981"/>
                </a:solidFill>
                <a:latin typeface="Segoe UI" panose="020B0502040204020203" pitchFamily="34" charset="0"/>
              </a:rPr>
              <a:t>[v] Core Legacy Audit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01E56DF-CBC4-9C9F-8BD1-A7C3D4118D0E}"/>
              </a:ext>
            </a:extLst>
          </p:cNvPr>
          <p:cNvSpPr/>
          <p:nvPr/>
        </p:nvSpPr>
        <p:spPr>
          <a:xfrm>
            <a:off x="3594100" y="1143000"/>
            <a:ext cx="2425700" cy="3556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10B981"/>
                </a:solidFill>
                <a:latin typeface="Segoe UI" panose="020B0502040204020203" pitchFamily="34" charset="0"/>
              </a:rPr>
              <a:t>[v] Protocol Migration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3D1EA2B-EC50-63C0-C675-17FF2090C0DC}"/>
              </a:ext>
            </a:extLst>
          </p:cNvPr>
          <p:cNvSpPr/>
          <p:nvPr/>
        </p:nvSpPr>
        <p:spPr>
          <a:xfrm>
            <a:off x="6172200" y="1143000"/>
            <a:ext cx="2425700" cy="3556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10B981"/>
                </a:solidFill>
                <a:latin typeface="Segoe UI" panose="020B0502040204020203" pitchFamily="34" charset="0"/>
              </a:rPr>
              <a:t>[v] Agentic Orchestration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FF8B634-0AB1-CAE1-E4F3-ADA69229DDB0}"/>
              </a:ext>
            </a:extLst>
          </p:cNvPr>
          <p:cNvSpPr/>
          <p:nvPr/>
        </p:nvSpPr>
        <p:spPr>
          <a:xfrm>
            <a:off x="8750300" y="1143000"/>
            <a:ext cx="2425700" cy="355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Segoe UI" panose="020B0502040204020203" pitchFamily="34" charset="0"/>
              </a:rPr>
              <a:t>[*] Global Deployment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01B8385-68F2-CE4E-7A3E-F852A5FDE56B}"/>
              </a:ext>
            </a:extLst>
          </p:cNvPr>
          <p:cNvSpPr/>
          <p:nvPr/>
        </p:nvSpPr>
        <p:spPr>
          <a:xfrm>
            <a:off x="1016000" y="1778000"/>
            <a:ext cx="2368550" cy="4064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604AC4F-4C8B-F1E6-0ACF-7CD783361A3A}"/>
              </a:ext>
            </a:extLst>
          </p:cNvPr>
          <p:cNvSpPr/>
          <p:nvPr/>
        </p:nvSpPr>
        <p:spPr>
          <a:xfrm>
            <a:off x="1219200" y="1981200"/>
            <a:ext cx="406400" cy="4064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[v]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357BE14-EE0C-F09B-DDF9-2F65C894407A}"/>
              </a:ext>
            </a:extLst>
          </p:cNvPr>
          <p:cNvSpPr txBox="1"/>
          <p:nvPr/>
        </p:nvSpPr>
        <p:spPr>
          <a:xfrm>
            <a:off x="121920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475569"/>
                </a:solidFill>
                <a:latin typeface="Segoe UI" panose="020B0502040204020203" pitchFamily="34" charset="0"/>
              </a:rPr>
              <a:t>Core Legacy Audit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73311AC-446C-38FE-FA3E-25113F64C15A}"/>
              </a:ext>
            </a:extLst>
          </p:cNvPr>
          <p:cNvSpPr txBox="1"/>
          <p:nvPr/>
        </p:nvSpPr>
        <p:spPr>
          <a:xfrm>
            <a:off x="1219200" y="3048000"/>
            <a:ext cx="196215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64748B"/>
                </a:solidFill>
                <a:latin typeface="Segoe UI" panose="020B0502040204020203" pitchFamily="34" charset="0"/>
              </a:rPr>
              <a:t>Catalog 450+ microservices &amp; dependencies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58B9FD1-B822-9E50-52ED-580E9D54601C}"/>
              </a:ext>
            </a:extLst>
          </p:cNvPr>
          <p:cNvSpPr/>
          <p:nvPr/>
        </p:nvSpPr>
        <p:spPr>
          <a:xfrm>
            <a:off x="3613150" y="1778000"/>
            <a:ext cx="2368550" cy="4064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E1CA54F-A548-837A-A24A-E65E7C978497}"/>
              </a:ext>
            </a:extLst>
          </p:cNvPr>
          <p:cNvSpPr/>
          <p:nvPr/>
        </p:nvSpPr>
        <p:spPr>
          <a:xfrm>
            <a:off x="3816350" y="1981200"/>
            <a:ext cx="406400" cy="4064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[v]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E46C259-5F59-2527-9D4F-773ACFEBFEB4}"/>
              </a:ext>
            </a:extLst>
          </p:cNvPr>
          <p:cNvSpPr txBox="1"/>
          <p:nvPr/>
        </p:nvSpPr>
        <p:spPr>
          <a:xfrm>
            <a:off x="381635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475569"/>
                </a:solidFill>
                <a:latin typeface="Segoe UI" panose="020B0502040204020203" pitchFamily="34" charset="0"/>
              </a:rPr>
              <a:t>Protocol Migration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319E575-C0D5-D4D0-7D8D-C40617576081}"/>
              </a:ext>
            </a:extLst>
          </p:cNvPr>
          <p:cNvSpPr txBox="1"/>
          <p:nvPr/>
        </p:nvSpPr>
        <p:spPr>
          <a:xfrm>
            <a:off x="3816350" y="3048000"/>
            <a:ext cx="196215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Standardize data exchanges on FastMCP &amp; JSON schemas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45EF436-BAAA-9602-D29A-84CFE490624C}"/>
              </a:ext>
            </a:extLst>
          </p:cNvPr>
          <p:cNvSpPr/>
          <p:nvPr/>
        </p:nvSpPr>
        <p:spPr>
          <a:xfrm>
            <a:off x="6210300" y="1778000"/>
            <a:ext cx="2368550" cy="4064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07558F0D-1F82-073A-A992-D52FA188C4EF}"/>
              </a:ext>
            </a:extLst>
          </p:cNvPr>
          <p:cNvSpPr/>
          <p:nvPr/>
        </p:nvSpPr>
        <p:spPr>
          <a:xfrm>
            <a:off x="6413500" y="1981200"/>
            <a:ext cx="406400" cy="4064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[v]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BEC6F76-ABA9-B842-AB2D-34F29F99DCDF}"/>
              </a:ext>
            </a:extLst>
          </p:cNvPr>
          <p:cNvSpPr txBox="1"/>
          <p:nvPr/>
        </p:nvSpPr>
        <p:spPr>
          <a:xfrm>
            <a:off x="6413500" y="2489200"/>
            <a:ext cx="196215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475569"/>
                </a:solidFill>
                <a:latin typeface="Segoe UI" panose="020B0502040204020203" pitchFamily="34" charset="0"/>
              </a:rPr>
              <a:t>Agentic Orchestration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F70DEB5-097C-1BE2-C464-4EFD13772A59}"/>
              </a:ext>
            </a:extLst>
          </p:cNvPr>
          <p:cNvSpPr txBox="1"/>
          <p:nvPr/>
        </p:nvSpPr>
        <p:spPr>
          <a:xfrm>
            <a:off x="6413500" y="3048000"/>
            <a:ext cx="196215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Deploy autonomous AI agents with live COM control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E8989B3-2241-C0B6-8212-F9BE42D7EA2B}"/>
              </a:ext>
            </a:extLst>
          </p:cNvPr>
          <p:cNvSpPr/>
          <p:nvPr/>
        </p:nvSpPr>
        <p:spPr>
          <a:xfrm>
            <a:off x="8807450" y="1778000"/>
            <a:ext cx="2368550" cy="4064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23D6883-E66A-8595-29FD-968399FCE8D1}"/>
              </a:ext>
            </a:extLst>
          </p:cNvPr>
          <p:cNvSpPr/>
          <p:nvPr/>
        </p:nvSpPr>
        <p:spPr>
          <a:xfrm>
            <a:off x="8858250" y="1803400"/>
            <a:ext cx="2266950" cy="508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2EEDE2F-63CF-29A8-7372-27094CEC6F23}"/>
              </a:ext>
            </a:extLst>
          </p:cNvPr>
          <p:cNvSpPr/>
          <p:nvPr/>
        </p:nvSpPr>
        <p:spPr>
          <a:xfrm>
            <a:off x="9010650" y="1981200"/>
            <a:ext cx="406400" cy="4064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270BBD2-1F99-A095-3987-E3612CB030EE}"/>
              </a:ext>
            </a:extLst>
          </p:cNvPr>
          <p:cNvSpPr txBox="1"/>
          <p:nvPr/>
        </p:nvSpPr>
        <p:spPr>
          <a:xfrm>
            <a:off x="9010650" y="2489200"/>
            <a:ext cx="196215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Global Deployment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1D4971F-B78B-1790-7D54-06A601E97552}"/>
              </a:ext>
            </a:extLst>
          </p:cNvPr>
          <p:cNvSpPr txBox="1"/>
          <p:nvPr/>
        </p:nvSpPr>
        <p:spPr>
          <a:xfrm>
            <a:off x="9010650" y="3048000"/>
            <a:ext cx="196215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334155"/>
                </a:solidFill>
                <a:latin typeface="Segoe UI" panose="020B0502040204020203" pitchFamily="34" charset="0"/>
              </a:rPr>
              <a:t>Roll out to 15,000 corporate workstations worldwide</a:t>
            </a:r>
            <a:endParaRPr lang="fr-FR" sz="12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872133"/>
      </p:ext>
    </p:extLst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AFD72B49-9767-5E91-BEBD-84A37E37A4A9}"/>
              </a:ext>
            </a:extLst>
          </p:cNvPr>
          <p:cNvSpPr txBox="1"/>
          <p:nvPr/>
        </p:nvSpPr>
        <p:spPr>
          <a:xfrm>
            <a:off x="1016000" y="635000"/>
            <a:ext cx="10160000" cy="605294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600" b="1">
                <a:solidFill>
                  <a:srgbClr val="0F172A"/>
                </a:solidFill>
                <a:latin typeface="Segoe UI" panose="020B0502040204020203" pitchFamily="34" charset="0"/>
              </a:rPr>
              <a:t>Automated 4-Step Pipeline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CCBB145-C8D7-75A7-126D-9647C5136AF1}"/>
              </a:ext>
            </a:extLst>
          </p:cNvPr>
          <p:cNvSpPr/>
          <p:nvPr/>
        </p:nvSpPr>
        <p:spPr>
          <a:xfrm>
            <a:off x="1016000" y="2222500"/>
            <a:ext cx="23114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65371A3-D5D9-DDDF-D716-552D66CF56F3}"/>
              </a:ext>
            </a:extLst>
          </p:cNvPr>
          <p:cNvSpPr/>
          <p:nvPr/>
        </p:nvSpPr>
        <p:spPr>
          <a:xfrm>
            <a:off x="1879600" y="1905000"/>
            <a:ext cx="584200" cy="584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568DE1AA-827C-5499-D4A6-6D79DC1570B5}"/>
              </a:ext>
            </a:extLst>
          </p:cNvPr>
          <p:cNvSpPr txBox="1"/>
          <p:nvPr/>
        </p:nvSpPr>
        <p:spPr>
          <a:xfrm>
            <a:off x="1143000" y="2603500"/>
            <a:ext cx="2057400" cy="323165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Input Request</a:t>
            </a:r>
          </a:p>
        </p:txBody>
      </p:sp>
      <p:sp useBgFill="1">
        <p:nvSpPr>
          <p:cNvPr id="6" name="ZoneTexte 5">
            <a:extLst>
              <a:ext uri="{FF2B5EF4-FFF2-40B4-BE49-F238E27FC236}">
                <a16:creationId xmlns:a16="http://schemas.microsoft.com/office/drawing/2014/main" id="{B9C1F26B-2AC5-4A9E-2B3A-EBD3EE5A8276}"/>
              </a:ext>
            </a:extLst>
          </p:cNvPr>
          <p:cNvSpPr txBox="1"/>
          <p:nvPr/>
        </p:nvSpPr>
        <p:spPr>
          <a:xfrm>
            <a:off x="1193800" y="3048000"/>
            <a:ext cx="1955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fr-FR" sz="1100">
                <a:solidFill>
                  <a:srgbClr val="64748B"/>
                </a:solidFill>
                <a:latin typeface="Segoe UI" panose="020B0502040204020203" pitchFamily="34" charset="0"/>
              </a:rPr>
              <a:t>User passes instruction via chat</a:t>
            </a:r>
          </a:p>
        </p:txBody>
      </p:sp>
      <p:sp>
        <p:nvSpPr>
          <p:cNvPr id="7" name="Cylindre 6">
            <a:extLst>
              <a:ext uri="{FF2B5EF4-FFF2-40B4-BE49-F238E27FC236}">
                <a16:creationId xmlns:a16="http://schemas.microsoft.com/office/drawing/2014/main" id="{FD7C6E10-420A-1A8F-964D-A2DAD85E27E9}"/>
              </a:ext>
            </a:extLst>
          </p:cNvPr>
          <p:cNvSpPr/>
          <p:nvPr/>
        </p:nvSpPr>
        <p:spPr>
          <a:xfrm>
            <a:off x="3365500" y="2095500"/>
            <a:ext cx="228600" cy="177800"/>
          </a:xfrm>
          <a:prstGeom prst="can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961F1C5-F3B5-C341-2F0C-586F3CD9E538}"/>
              </a:ext>
            </a:extLst>
          </p:cNvPr>
          <p:cNvSpPr/>
          <p:nvPr/>
        </p:nvSpPr>
        <p:spPr>
          <a:xfrm>
            <a:off x="3632200" y="2222500"/>
            <a:ext cx="23114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9805E9E-EA1E-7F1C-B5AE-356A744D1480}"/>
              </a:ext>
            </a:extLst>
          </p:cNvPr>
          <p:cNvSpPr/>
          <p:nvPr/>
        </p:nvSpPr>
        <p:spPr>
          <a:xfrm>
            <a:off x="4495800" y="1905000"/>
            <a:ext cx="584200" cy="584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30DB821B-2904-281E-6F16-E0657FC77A21}"/>
              </a:ext>
            </a:extLst>
          </p:cNvPr>
          <p:cNvSpPr txBox="1"/>
          <p:nvPr/>
        </p:nvSpPr>
        <p:spPr>
          <a:xfrm>
            <a:off x="3759200" y="2603500"/>
            <a:ext cx="2057400" cy="323165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Tool Resolution</a:t>
            </a:r>
          </a:p>
        </p:txBody>
      </p:sp>
      <p:sp useBgFill="1">
        <p:nvSpPr>
          <p:cNvPr id="11" name="ZoneTexte 10">
            <a:extLst>
              <a:ext uri="{FF2B5EF4-FFF2-40B4-BE49-F238E27FC236}">
                <a16:creationId xmlns:a16="http://schemas.microsoft.com/office/drawing/2014/main" id="{E5EA8236-33D3-BC63-1591-A281EE9AEF77}"/>
              </a:ext>
            </a:extLst>
          </p:cNvPr>
          <p:cNvSpPr txBox="1"/>
          <p:nvPr/>
        </p:nvSpPr>
        <p:spPr>
          <a:xfrm>
            <a:off x="3810000" y="3048000"/>
            <a:ext cx="1955800" cy="26161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fr-FR" sz="1100">
                <a:solidFill>
                  <a:srgbClr val="64748B"/>
                </a:solidFill>
                <a:latin typeface="Segoe UI" panose="020B0502040204020203" pitchFamily="34" charset="0"/>
              </a:rPr>
              <a:t>MCP identifies optimal tools</a:t>
            </a:r>
          </a:p>
        </p:txBody>
      </p:sp>
      <p:sp>
        <p:nvSpPr>
          <p:cNvPr id="12" name="Cylindre 11">
            <a:extLst>
              <a:ext uri="{FF2B5EF4-FFF2-40B4-BE49-F238E27FC236}">
                <a16:creationId xmlns:a16="http://schemas.microsoft.com/office/drawing/2014/main" id="{E1EE9A04-7B28-EB2D-BD02-B1E435EF9DC9}"/>
              </a:ext>
            </a:extLst>
          </p:cNvPr>
          <p:cNvSpPr/>
          <p:nvPr/>
        </p:nvSpPr>
        <p:spPr>
          <a:xfrm>
            <a:off x="5981700" y="2095500"/>
            <a:ext cx="228600" cy="177800"/>
          </a:xfrm>
          <a:prstGeom prst="can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C9A2A5E-FFFF-43E7-BD0D-99EADE7AC628}"/>
              </a:ext>
            </a:extLst>
          </p:cNvPr>
          <p:cNvSpPr/>
          <p:nvPr/>
        </p:nvSpPr>
        <p:spPr>
          <a:xfrm>
            <a:off x="6248400" y="2222500"/>
            <a:ext cx="23114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1D539AC-EC2C-50F3-F6A2-991EA854C7C4}"/>
              </a:ext>
            </a:extLst>
          </p:cNvPr>
          <p:cNvSpPr/>
          <p:nvPr/>
        </p:nvSpPr>
        <p:spPr>
          <a:xfrm>
            <a:off x="7112000" y="1905000"/>
            <a:ext cx="584200" cy="584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 useBgFill="1">
        <p:nvSpPr>
          <p:cNvPr id="15" name="ZoneTexte 14">
            <a:extLst>
              <a:ext uri="{FF2B5EF4-FFF2-40B4-BE49-F238E27FC236}">
                <a16:creationId xmlns:a16="http://schemas.microsoft.com/office/drawing/2014/main" id="{BC727715-5B57-50DB-681E-FA5EDAEDFBD2}"/>
              </a:ext>
            </a:extLst>
          </p:cNvPr>
          <p:cNvSpPr txBox="1"/>
          <p:nvPr/>
        </p:nvSpPr>
        <p:spPr>
          <a:xfrm>
            <a:off x="6375400" y="2603500"/>
            <a:ext cx="2057400" cy="323165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Execution</a:t>
            </a:r>
          </a:p>
        </p:txBody>
      </p:sp>
      <p:sp useBgFill="1">
        <p:nvSpPr>
          <p:cNvPr id="16" name="ZoneTexte 15">
            <a:extLst>
              <a:ext uri="{FF2B5EF4-FFF2-40B4-BE49-F238E27FC236}">
                <a16:creationId xmlns:a16="http://schemas.microsoft.com/office/drawing/2014/main" id="{4024586E-95E4-672D-6A71-7BC2064C61B2}"/>
              </a:ext>
            </a:extLst>
          </p:cNvPr>
          <p:cNvSpPr txBox="1"/>
          <p:nvPr/>
        </p:nvSpPr>
        <p:spPr>
          <a:xfrm>
            <a:off x="6426200" y="3048000"/>
            <a:ext cx="1955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Real-time COM commands sent to Office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Cylindre 16">
            <a:extLst>
              <a:ext uri="{FF2B5EF4-FFF2-40B4-BE49-F238E27FC236}">
                <a16:creationId xmlns:a16="http://schemas.microsoft.com/office/drawing/2014/main" id="{293ACB20-B0A9-E696-3DE8-3DE7BCD72D07}"/>
              </a:ext>
            </a:extLst>
          </p:cNvPr>
          <p:cNvSpPr/>
          <p:nvPr/>
        </p:nvSpPr>
        <p:spPr>
          <a:xfrm>
            <a:off x="8597900" y="2095500"/>
            <a:ext cx="228600" cy="177800"/>
          </a:xfrm>
          <a:prstGeom prst="can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DE964ED-ADAF-4FDF-440E-835E16A964F2}"/>
              </a:ext>
            </a:extLst>
          </p:cNvPr>
          <p:cNvSpPr/>
          <p:nvPr/>
        </p:nvSpPr>
        <p:spPr>
          <a:xfrm>
            <a:off x="8864600" y="2222500"/>
            <a:ext cx="23114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93FD29F-932D-49BC-2C5C-C2F70057A53D}"/>
              </a:ext>
            </a:extLst>
          </p:cNvPr>
          <p:cNvSpPr/>
          <p:nvPr/>
        </p:nvSpPr>
        <p:spPr>
          <a:xfrm>
            <a:off x="9728200" y="1905000"/>
            <a:ext cx="584200" cy="584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 useBgFill="1">
        <p:nvSpPr>
          <p:cNvPr id="20" name="ZoneTexte 19">
            <a:extLst>
              <a:ext uri="{FF2B5EF4-FFF2-40B4-BE49-F238E27FC236}">
                <a16:creationId xmlns:a16="http://schemas.microsoft.com/office/drawing/2014/main" id="{623A9B7F-AFDF-DAB2-DA53-51CE7F04373E}"/>
              </a:ext>
            </a:extLst>
          </p:cNvPr>
          <p:cNvSpPr txBox="1"/>
          <p:nvPr/>
        </p:nvSpPr>
        <p:spPr>
          <a:xfrm>
            <a:off x="8991600" y="2603500"/>
            <a:ext cx="2057400" cy="323165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Verification</a:t>
            </a:r>
          </a:p>
        </p:txBody>
      </p:sp>
      <p:sp useBgFill="1">
        <p:nvSpPr>
          <p:cNvPr id="21" name="ZoneTexte 20">
            <a:extLst>
              <a:ext uri="{FF2B5EF4-FFF2-40B4-BE49-F238E27FC236}">
                <a16:creationId xmlns:a16="http://schemas.microsoft.com/office/drawing/2014/main" id="{4434FECA-E92B-37EE-864F-35A9E6F8F51A}"/>
              </a:ext>
            </a:extLst>
          </p:cNvPr>
          <p:cNvSpPr txBox="1"/>
          <p:nvPr/>
        </p:nvSpPr>
        <p:spPr>
          <a:xfrm>
            <a:off x="9042400" y="3048000"/>
            <a:ext cx="1955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High-res screenshot and state verified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05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377862E2-437B-ED46-AA4F-6EAD12AF3C6C}"/>
              </a:ext>
            </a:extLst>
          </p:cNvPr>
          <p:cNvSpPr txBox="1"/>
          <p:nvPr/>
        </p:nvSpPr>
        <p:spPr>
          <a:xfrm>
            <a:off x="1016000" y="635000"/>
            <a:ext cx="10160000" cy="605294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600" b="1">
                <a:solidFill>
                  <a:srgbClr val="0F172A"/>
                </a:solidFill>
                <a:latin typeface="Segoe UI" panose="020B0502040204020203" pitchFamily="34" charset="0"/>
              </a:rPr>
              <a:t>Sequential Entrance Animations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BC6E2D1-29ED-08C8-D7D1-03179D874F1A}"/>
              </a:ext>
            </a:extLst>
          </p:cNvPr>
          <p:cNvSpPr/>
          <p:nvPr/>
        </p:nvSpPr>
        <p:spPr>
          <a:xfrm>
            <a:off x="1016000" y="1778000"/>
            <a:ext cx="3048000" cy="2794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en-US" b="1">
                <a:solidFill>
                  <a:srgbClr val="0F172A"/>
                </a:solidFill>
                <a:latin typeface="Segoe UI" panose="020B0502040204020203" pitchFamily="34" charset="0"/>
              </a:rPr>
              <a:t>Feature Alpha
Instant startup and minimal resource footprint</a:t>
            </a:r>
            <a:endParaRPr lang="fr-FR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14A04F3-4F8C-6819-0ACD-61CB0CC1A48B}"/>
              </a:ext>
            </a:extLst>
          </p:cNvPr>
          <p:cNvSpPr/>
          <p:nvPr/>
        </p:nvSpPr>
        <p:spPr>
          <a:xfrm>
            <a:off x="4572000" y="1778000"/>
            <a:ext cx="3048000" cy="2794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en-US" b="1">
                <a:solidFill>
                  <a:srgbClr val="0F172A"/>
                </a:solidFill>
                <a:latin typeface="Segoe UI" panose="020B0502040204020203" pitchFamily="34" charset="0"/>
              </a:rPr>
              <a:t>Feature Beta
Full bidirectional streaming and async events</a:t>
            </a:r>
            <a:endParaRPr lang="fr-FR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321C0EEC-7DCA-31E6-C90C-62C8792CE51B}"/>
              </a:ext>
            </a:extLst>
          </p:cNvPr>
          <p:cNvSpPr/>
          <p:nvPr/>
        </p:nvSpPr>
        <p:spPr>
          <a:xfrm>
            <a:off x="8128000" y="1778000"/>
            <a:ext cx="3048000" cy="2794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en-US" b="1">
                <a:solidFill>
                  <a:srgbClr val="0F172A"/>
                </a:solidFill>
                <a:latin typeface="Segoe UI" panose="020B0502040204020203" pitchFamily="34" charset="0"/>
              </a:rPr>
              <a:t>Feature Gamma
Hardened security sandbox and zero trust</a:t>
            </a:r>
            <a:endParaRPr lang="fr-FR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67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559AF4E4-0F23-9148-6E24-0CEEA94D042E}"/>
              </a:ext>
            </a:extLst>
          </p:cNvPr>
          <p:cNvSpPr txBox="1"/>
          <p:nvPr/>
        </p:nvSpPr>
        <p:spPr>
          <a:xfrm>
            <a:off x="1016000" y="635000"/>
            <a:ext cx="10160000" cy="605294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600" b="1">
                <a:solidFill>
                  <a:srgbClr val="0F172A"/>
                </a:solidFill>
                <a:latin typeface="Segoe UI" panose="020B0502040204020203" pitchFamily="34" charset="0"/>
              </a:rPr>
              <a:t>Interactive Speaker Key Points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DDC151-3A96-18CB-BEC6-3F71054B8285}"/>
              </a:ext>
            </a:extLst>
          </p:cNvPr>
          <p:cNvSpPr txBox="1"/>
          <p:nvPr/>
        </p:nvSpPr>
        <p:spPr>
          <a:xfrm>
            <a:off x="1016000" y="1651000"/>
            <a:ext cx="10160000" cy="13336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-285750">
              <a:spcBef>
                <a:spcPts val="800"/>
              </a:spcBef>
              <a:spcAft>
                <a:spcPts val="800"/>
              </a:spcAft>
              <a:buChar char="•"/>
            </a:pPr>
            <a:r>
              <a:rPr lang="en-US">
                <a:solidFill>
                  <a:srgbClr val="334155"/>
                </a:solidFill>
                <a:latin typeface="Segoe UI" panose="020B0502040204020203" pitchFamily="34" charset="0"/>
              </a:rPr>
              <a:t>First strategic priority: Cloud infrastructure scaling
Second strategic priority: Developer experience and SDKs
Third strategic priority: Enterprise security &amp; governance</a:t>
            </a:r>
            <a:endParaRPr lang="fr-FR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69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E01558DB-EB87-473F-72A1-8071E22A29A5}"/>
              </a:ext>
            </a:extLst>
          </p:cNvPr>
          <p:cNvSpPr txBox="1"/>
          <p:nvPr/>
        </p:nvSpPr>
        <p:spPr>
          <a:xfrm>
            <a:off x="1016000" y="635000"/>
            <a:ext cx="10160000" cy="605294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600" b="1">
                <a:solidFill>
                  <a:srgbClr val="0F172A"/>
                </a:solidFill>
                <a:latin typeface="Segoe UI" panose="020B0502040204020203" pitchFamily="34" charset="0"/>
              </a:rPr>
              <a:t>Multi-Card Split Demo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C81F199-258E-CC0E-10DB-E02A551E22BC}"/>
              </a:ext>
            </a:extLst>
          </p:cNvPr>
          <p:cNvSpPr/>
          <p:nvPr/>
        </p:nvSpPr>
        <p:spPr>
          <a:xfrm>
            <a:off x="1016000" y="1778000"/>
            <a:ext cx="3048000" cy="2794000"/>
          </a:xfrm>
          <a:prstGeom prst="roundRect">
            <a:avLst/>
          </a:prstGeom>
          <a:solidFill>
            <a:srgbClr val="F8FAFC">
              <a:alpha val="28000"/>
            </a:srgbClr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en-US" b="1">
                <a:solidFill>
                  <a:srgbClr val="94A3B8"/>
                </a:solidFill>
                <a:latin typeface="Segoe UI" panose="020B0502040204020203" pitchFamily="34" charset="0"/>
              </a:rPr>
              <a:t>Phase 1: Concept
Brainstorming and requirements gathering</a:t>
            </a:r>
            <a:endParaRPr lang="fr-FR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EEE8F41-6DE9-7B48-46EC-C57951748219}"/>
              </a:ext>
            </a:extLst>
          </p:cNvPr>
          <p:cNvSpPr/>
          <p:nvPr/>
        </p:nvSpPr>
        <p:spPr>
          <a:xfrm>
            <a:off x="4572000" y="1778000"/>
            <a:ext cx="3048000" cy="2794000"/>
          </a:xfrm>
          <a:prstGeom prst="roundRect">
            <a:avLst/>
          </a:prstGeom>
          <a:solidFill>
            <a:srgbClr val="F8FAFC">
              <a:alpha val="28000"/>
            </a:srgbClr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en-US" b="1">
                <a:solidFill>
                  <a:srgbClr val="94A3B8"/>
                </a:solidFill>
                <a:latin typeface="Segoe UI" panose="020B0502040204020203" pitchFamily="34" charset="0"/>
              </a:rPr>
              <a:t>Phase 2: Prototype
Rapid prototyping with live visual feedback</a:t>
            </a:r>
            <a:endParaRPr lang="fr-FR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B334294-3424-3094-EB73-1E7068B71B02}"/>
              </a:ext>
            </a:extLst>
          </p:cNvPr>
          <p:cNvSpPr/>
          <p:nvPr/>
        </p:nvSpPr>
        <p:spPr>
          <a:xfrm>
            <a:off x="8128000" y="1778000"/>
            <a:ext cx="3048000" cy="279400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fr-FR" b="1">
                <a:solidFill>
                  <a:srgbClr val="0F172A"/>
                </a:solidFill>
                <a:latin typeface="Segoe UI" panose="020B0502040204020203" pitchFamily="34" charset="0"/>
              </a:rPr>
              <a:t>Phase 3: Scale
Enterprise distribution and global monitoring</a:t>
            </a:r>
          </a:p>
        </p:txBody>
      </p:sp>
    </p:spTree>
    <p:extLst>
      <p:ext uri="{BB962C8B-B14F-4D97-AF65-F5344CB8AC3E}">
        <p14:creationId xmlns:p14="http://schemas.microsoft.com/office/powerpoint/2010/main" val="2256634419"/>
      </p:ext>
    </p:extLst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E01558DB-EB87-473F-72A1-8071E22A29A5}"/>
              </a:ext>
            </a:extLst>
          </p:cNvPr>
          <p:cNvSpPr txBox="1"/>
          <p:nvPr/>
        </p:nvSpPr>
        <p:spPr>
          <a:xfrm>
            <a:off x="1016000" y="635000"/>
            <a:ext cx="10160000" cy="605294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600" b="1">
                <a:solidFill>
                  <a:srgbClr val="0F172A"/>
                </a:solidFill>
                <a:latin typeface="Segoe UI" panose="020B0502040204020203" pitchFamily="34" charset="0"/>
              </a:rPr>
              <a:t>Multi-Card Split Demo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C81F199-258E-CC0E-10DB-E02A551E22BC}"/>
              </a:ext>
            </a:extLst>
          </p:cNvPr>
          <p:cNvSpPr/>
          <p:nvPr/>
        </p:nvSpPr>
        <p:spPr>
          <a:xfrm>
            <a:off x="1016000" y="1778000"/>
            <a:ext cx="3048000" cy="2794000"/>
          </a:xfrm>
          <a:prstGeom prst="roundRect">
            <a:avLst/>
          </a:prstGeom>
          <a:solidFill>
            <a:srgbClr val="F8FAFC">
              <a:alpha val="28000"/>
            </a:srgbClr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en-US" b="1">
                <a:solidFill>
                  <a:srgbClr val="94A3B8"/>
                </a:solidFill>
                <a:latin typeface="Segoe UI" panose="020B0502040204020203" pitchFamily="34" charset="0"/>
              </a:rPr>
              <a:t>Phase 1: Concept
Brainstorming and requirements gathering</a:t>
            </a:r>
            <a:endParaRPr lang="fr-FR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EEE8F41-6DE9-7B48-46EC-C57951748219}"/>
              </a:ext>
            </a:extLst>
          </p:cNvPr>
          <p:cNvSpPr/>
          <p:nvPr/>
        </p:nvSpPr>
        <p:spPr>
          <a:xfrm>
            <a:off x="4572000" y="1778000"/>
            <a:ext cx="3048000" cy="279400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en-US" b="1">
                <a:solidFill>
                  <a:srgbClr val="0F172A"/>
                </a:solidFill>
                <a:latin typeface="Segoe UI" panose="020B0502040204020203" pitchFamily="34" charset="0"/>
              </a:rPr>
              <a:t>Phase 2: Prototype
Rapid prototyping with live visual feedback</a:t>
            </a:r>
            <a:endParaRPr lang="fr-FR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B334294-3424-3094-EB73-1E7068B71B02}"/>
              </a:ext>
            </a:extLst>
          </p:cNvPr>
          <p:cNvSpPr/>
          <p:nvPr/>
        </p:nvSpPr>
        <p:spPr>
          <a:xfrm>
            <a:off x="8128000" y="1778000"/>
            <a:ext cx="3048000" cy="2794000"/>
          </a:xfrm>
          <a:prstGeom prst="roundRect">
            <a:avLst/>
          </a:prstGeom>
          <a:solidFill>
            <a:srgbClr val="F8FAFC">
              <a:alpha val="12000"/>
            </a:srgbClr>
          </a:solidFill>
          <a:ln w="1270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fr-FR" b="1">
                <a:solidFill>
                  <a:srgbClr val="CBD5E1"/>
                </a:solidFill>
                <a:latin typeface="Segoe UI" panose="020B0502040204020203" pitchFamily="34" charset="0"/>
              </a:rPr>
              <a:t>Phase 3: Scale
Enterprise distribution and global monitoring</a:t>
            </a:r>
          </a:p>
        </p:txBody>
      </p:sp>
    </p:spTree>
    <p:extLst>
      <p:ext uri="{BB962C8B-B14F-4D97-AF65-F5344CB8AC3E}">
        <p14:creationId xmlns:p14="http://schemas.microsoft.com/office/powerpoint/2010/main" val="39434223"/>
      </p:ext>
    </p:extLst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E01558DB-EB87-473F-72A1-8071E22A29A5}"/>
              </a:ext>
            </a:extLst>
          </p:cNvPr>
          <p:cNvSpPr txBox="1"/>
          <p:nvPr/>
        </p:nvSpPr>
        <p:spPr>
          <a:xfrm>
            <a:off x="1016000" y="635000"/>
            <a:ext cx="10160000" cy="605294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600" b="1">
                <a:solidFill>
                  <a:srgbClr val="0F172A"/>
                </a:solidFill>
                <a:latin typeface="Segoe UI" panose="020B0502040204020203" pitchFamily="34" charset="0"/>
              </a:rPr>
              <a:t>Multi-Card Split Demo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C81F199-258E-CC0E-10DB-E02A551E22BC}"/>
              </a:ext>
            </a:extLst>
          </p:cNvPr>
          <p:cNvSpPr/>
          <p:nvPr/>
        </p:nvSpPr>
        <p:spPr>
          <a:xfrm>
            <a:off x="1016000" y="1778000"/>
            <a:ext cx="3048000" cy="279400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en-US" b="1">
                <a:solidFill>
                  <a:srgbClr val="0F172A"/>
                </a:solidFill>
                <a:latin typeface="Segoe UI" panose="020B0502040204020203" pitchFamily="34" charset="0"/>
              </a:rPr>
              <a:t>Phase 1: Concept
Brainstorming and requirements gathering</a:t>
            </a:r>
            <a:endParaRPr lang="fr-FR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EEE8F41-6DE9-7B48-46EC-C57951748219}"/>
              </a:ext>
            </a:extLst>
          </p:cNvPr>
          <p:cNvSpPr/>
          <p:nvPr/>
        </p:nvSpPr>
        <p:spPr>
          <a:xfrm>
            <a:off x="4572000" y="1778000"/>
            <a:ext cx="3048000" cy="2794000"/>
          </a:xfrm>
          <a:prstGeom prst="roundRect">
            <a:avLst/>
          </a:prstGeom>
          <a:solidFill>
            <a:srgbClr val="F8FAFC">
              <a:alpha val="12000"/>
            </a:srgbClr>
          </a:solidFill>
          <a:ln w="1270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en-US" b="1">
                <a:solidFill>
                  <a:srgbClr val="CBD5E1"/>
                </a:solidFill>
                <a:latin typeface="Segoe UI" panose="020B0502040204020203" pitchFamily="34" charset="0"/>
              </a:rPr>
              <a:t>Phase 2: Prototype
Rapid prototyping with live visual feedback</a:t>
            </a:r>
            <a:endParaRPr lang="fr-FR" b="1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B334294-3424-3094-EB73-1E7068B71B02}"/>
              </a:ext>
            </a:extLst>
          </p:cNvPr>
          <p:cNvSpPr/>
          <p:nvPr/>
        </p:nvSpPr>
        <p:spPr>
          <a:xfrm>
            <a:off x="8128000" y="1778000"/>
            <a:ext cx="3048000" cy="2794000"/>
          </a:xfrm>
          <a:prstGeom prst="roundRect">
            <a:avLst/>
          </a:prstGeom>
          <a:solidFill>
            <a:srgbClr val="F8FAFC">
              <a:alpha val="12000"/>
            </a:srgbClr>
          </a:solidFill>
          <a:ln w="1270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28600" rIns="203200" bIns="203200" rtlCol="0" anchor="ctr"/>
          <a:lstStyle/>
          <a:p>
            <a:r>
              <a:rPr lang="fr-FR" b="1">
                <a:solidFill>
                  <a:srgbClr val="CBD5E1"/>
                </a:solidFill>
                <a:latin typeface="Segoe UI" panose="020B0502040204020203" pitchFamily="34" charset="0"/>
              </a:rPr>
              <a:t>Phase 3: Scale
Enterprise distribution and global monitoring</a:t>
            </a:r>
          </a:p>
        </p:txBody>
      </p:sp>
    </p:spTree>
    <p:extLst>
      <p:ext uri="{BB962C8B-B14F-4D97-AF65-F5344CB8AC3E}">
        <p14:creationId xmlns:p14="http://schemas.microsoft.com/office/powerpoint/2010/main" val="3359632004"/>
      </p:ext>
    </p:extLst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Personnalisé</PresentationFormat>
  <Paragraphs>99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Oussama OUNS</dc:creator>
  <cp:lastModifiedBy>Oussama OUNS</cp:lastModifiedBy>
  <cp:revision>1</cp:revision>
  <dcterms:created xsi:type="dcterms:W3CDTF">2026-10-18T13:51:38Z</dcterms:created>
  <dcterms:modified xsi:type="dcterms:W3CDTF">2026-10-18T13:51:39Z</dcterms:modified>
</cp:coreProperties>
</file>