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2" d="100"/>
          <a:sy n="62" d="100"/>
        </p:scale>
        <p:origin x="93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867DB5-F5D6-550F-19A6-B99DD4BDE5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2F64947-668D-CC63-C847-0B131B89A4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533AB68-3FB7-619A-BC06-D6BFCAA56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7269B-239B-4A48-A648-00F43DBB63ED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4D78A3-E1CF-8ECC-9918-49585F00C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A37A138-9354-7AB3-70E7-ED89DA856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88B0F-A704-42A9-8EEF-F586F4D726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3583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5D99AD-E0C3-6867-76C0-0372B3013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C55704-B369-BD21-5BDD-8C4FAB4B3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CFEFD57-E090-9203-960A-D3695BD77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7269B-239B-4A48-A648-00F43DBB63ED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376EC1-F6DA-8195-4C77-A1CF78EA3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54C0CA7-34A7-4378-5082-3CC943D8D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88B0F-A704-42A9-8EEF-F586F4D726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3407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236D29-7EBA-6232-633A-B4A69BD51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E61FADE-F346-E19B-D850-34D5086753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316AEF-CBD6-FBD2-2C5E-05DC30128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7269B-239B-4A48-A648-00F43DBB63ED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87B1B5-BD25-BF59-F2EE-95508711B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DC546F-721F-072F-7772-6CFF30E6A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88B0F-A704-42A9-8EEF-F586F4D726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0062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4E79E0-1AFD-99A2-7DEF-8F349D79C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D23157-BB48-B3AE-6791-2E0A8CA615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93E4D53-65C7-AA13-CA81-AE02D767C8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86E69F3-5376-3E8D-DDC9-FE47E2F49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7269B-239B-4A48-A648-00F43DBB63ED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7E8371-2A1B-81EC-95F3-B61422C12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772BFA4-D4B6-9FDF-D696-3E3B5B367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88B0F-A704-42A9-8EEF-F586F4D726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751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D98D20-FFD1-8E97-0954-EE99059F5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A952DA3-EDA1-0808-BB35-753B13BC4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F408D83-08C9-14DD-1995-371B7F60E1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EE6D937-372E-AE7D-1727-7B2C9E0158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051CDF6-D136-21DA-2CDF-E21994C1B8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6A3282D-6B97-15CD-45B7-41266E1B7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7269B-239B-4A48-A648-00F43DBB63ED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23255C9-74BD-A982-6597-9C13B0F9C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3891E85-13FA-A91E-2BB1-518D15461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88B0F-A704-42A9-8EEF-F586F4D726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7154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BD3ED2-E5CF-6DFF-CB98-B6E1B5770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6CECC06-AD2B-9725-82ED-27F7B3759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7269B-239B-4A48-A648-00F43DBB63ED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7CDC0C2-7A76-2EF4-3C25-3671E59A8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E24ED47-CE4B-196B-D4DD-6EB30372C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88B0F-A704-42A9-8EEF-F586F4D726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431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C11E5D6-A93C-5178-4987-910750D9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7269B-239B-4A48-A648-00F43DBB63ED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9F9BD94-AA73-7664-3D6B-C1F404717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6BFAF4B-8525-847E-FEC2-79FDC1816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88B0F-A704-42A9-8EEF-F586F4D726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1222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2D4782-46D8-51A6-D66B-90BFBFA69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77828D-96EB-BFAF-3D2D-E8EB145CD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02B2EE7-052E-ABBD-8C44-050BA7A3B8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713552C-A69B-270F-BDB4-F95CC2165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7269B-239B-4A48-A648-00F43DBB63ED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151529C-C137-3F0D-1391-5AD28AA3A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356C333-5D4A-58A1-17D6-20BD0AFCF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88B0F-A704-42A9-8EEF-F586F4D726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0198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BB1399-2914-38CE-0EB5-5F1CB325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535BA6E-322A-3101-186F-CA7A5C6716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0E3A712-E30B-1A7E-E336-CF11CC918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EFAB328-BE00-5306-59ED-6F50BF3E4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7269B-239B-4A48-A648-00F43DBB63ED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8D4E06-5720-1987-8067-6E37352BC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3EBFBC0-59A0-39FD-5CE8-F4196CB57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88B0F-A704-42A9-8EEF-F586F4D726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864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969063-2418-7BB9-EB00-EEDE2B933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5E1CDE1-0019-0ECC-FE23-52BB987B6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B37D017-7A7A-2F49-72D2-7F4CF213C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7269B-239B-4A48-A648-00F43DBB63ED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C84534-8247-A216-172D-98F9972DE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625A221-2177-5115-9700-B06541BBD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88B0F-A704-42A9-8EEF-F586F4D726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7300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82F7220-3C66-C703-5E22-25891E84A4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4B5E764-C5A3-B068-BB1A-9D4DD42101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AC11A41-CB05-911C-AE64-3992B8EDE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7269B-239B-4A48-A648-00F43DBB63ED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0FA858-EFB1-F0D1-F624-9F8835EF3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0D10A35-3967-B12D-931C-E33D2FD31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88B0F-A704-42A9-8EEF-F586F4D726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8683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8053137-4BCB-1308-EE07-9A7C34C65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58C5C29-5D0D-9DCC-9812-57C71C70D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7DDC95E-F188-4F99-C5C0-298EE80D7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A7269B-239B-4A48-A648-00F43DBB63ED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64FD60-2CF2-2223-93F2-2702FACB2F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0E9851A-646D-4E5C-F05A-57C84A970F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88B0F-A704-42A9-8EEF-F586F4D726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2533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ZoneTexte 14">
            <a:extLst>
              <a:ext uri="{FF2B5EF4-FFF2-40B4-BE49-F238E27FC236}">
                <a16:creationId xmlns:a16="http://schemas.microsoft.com/office/drawing/2014/main" id="{B8DD0453-B875-CD0E-8B11-2AD406EF3A74}"/>
              </a:ext>
            </a:extLst>
          </p:cNvPr>
          <p:cNvSpPr txBox="1"/>
          <p:nvPr/>
        </p:nvSpPr>
        <p:spPr>
          <a:xfrm rot="-1800000">
            <a:off x="508000" y="2732614"/>
            <a:ext cx="11176000" cy="1138773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pPr algn="ctr"/>
            <a:r>
              <a:rPr lang="fr-FR" sz="6800" b="1">
                <a:solidFill>
                  <a:srgbClr val="E2E8F0"/>
                </a:solidFill>
                <a:latin typeface="Segoe UI" panose="020B0502040204020203" pitchFamily="34" charset="0"/>
              </a:rPr>
              <a:t>CONFIDENTIAL DRAFT</a:t>
            </a:r>
          </a:p>
        </p:txBody>
      </p:sp>
      <p:sp useBgFill="1">
        <p:nvSpPr>
          <p:cNvPr id="2" name="ZoneTexte 1">
            <a:extLst>
              <a:ext uri="{FF2B5EF4-FFF2-40B4-BE49-F238E27FC236}">
                <a16:creationId xmlns:a16="http://schemas.microsoft.com/office/drawing/2014/main" id="{37D35D7F-666F-FA82-9D7C-6101CCC50B92}"/>
              </a:ext>
            </a:extLst>
          </p:cNvPr>
          <p:cNvSpPr txBox="1"/>
          <p:nvPr/>
        </p:nvSpPr>
        <p:spPr>
          <a:xfrm>
            <a:off x="1016000" y="635000"/>
            <a:ext cx="10160000" cy="636072"/>
          </a:xfrm>
          <a:prstGeom prst="rect">
            <a:avLst/>
          </a:prstGeom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fr-FR" sz="2800" b="1">
                <a:solidFill>
                  <a:srgbClr val="0F172A"/>
                </a:solidFill>
                <a:latin typeface="Segoe UI" panose="020B0502040204020203" pitchFamily="34" charset="0"/>
              </a:rPr>
              <a:t>Executive Briefing Agenda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8AE1D19C-38F6-85D2-E861-435CCE2C438E}"/>
              </a:ext>
            </a:extLst>
          </p:cNvPr>
          <p:cNvSpPr/>
          <p:nvPr/>
        </p:nvSpPr>
        <p:spPr>
          <a:xfrm>
            <a:off x="1016000" y="1574800"/>
            <a:ext cx="10160000" cy="133773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1714F00E-0D82-FD07-4DA9-5FCE9DF53E9B}"/>
              </a:ext>
            </a:extLst>
          </p:cNvPr>
          <p:cNvSpPr/>
          <p:nvPr/>
        </p:nvSpPr>
        <p:spPr>
          <a:xfrm>
            <a:off x="1193800" y="2040467"/>
            <a:ext cx="457200" cy="406400"/>
          </a:xfrm>
          <a:prstGeom prst="round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 b="1">
                <a:solidFill>
                  <a:srgbClr val="475569"/>
                </a:solidFill>
                <a:latin typeface="Segoe UI" panose="020B0502040204020203" pitchFamily="34" charset="0"/>
              </a:rPr>
              <a:t>01</a:t>
            </a:r>
          </a:p>
        </p:txBody>
      </p:sp>
      <p:sp useBgFill="1">
        <p:nvSpPr>
          <p:cNvPr id="5" name="ZoneTexte 4">
            <a:extLst>
              <a:ext uri="{FF2B5EF4-FFF2-40B4-BE49-F238E27FC236}">
                <a16:creationId xmlns:a16="http://schemas.microsoft.com/office/drawing/2014/main" id="{593F03F2-698F-E03F-1218-FA17AC22077A}"/>
              </a:ext>
            </a:extLst>
          </p:cNvPr>
          <p:cNvSpPr txBox="1"/>
          <p:nvPr/>
        </p:nvSpPr>
        <p:spPr>
          <a:xfrm>
            <a:off x="1803400" y="1625600"/>
            <a:ext cx="7874000" cy="523220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0F172A"/>
                </a:solidFill>
                <a:latin typeface="Segoe UI" panose="020B0502040204020203" pitchFamily="34" charset="0"/>
              </a:rPr>
              <a:t>Market Dynamics &amp; Opportunity
Macro analysis and growth tailwinds</a:t>
            </a:r>
            <a:endParaRPr lang="fr-FR" sz="1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51B8A7C9-B968-E83F-C681-40D9F113D5E4}"/>
              </a:ext>
            </a:extLst>
          </p:cNvPr>
          <p:cNvSpPr/>
          <p:nvPr/>
        </p:nvSpPr>
        <p:spPr>
          <a:xfrm>
            <a:off x="9779000" y="2078567"/>
            <a:ext cx="1143000" cy="330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>
                <a:solidFill>
                  <a:srgbClr val="64748B"/>
                </a:solidFill>
                <a:latin typeface="Segoe UI" panose="020B0502040204020203" pitchFamily="34" charset="0"/>
              </a:rPr>
              <a:t>10 min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AE2CC2EA-D547-1FC7-756D-20064FE3A8FD}"/>
              </a:ext>
            </a:extLst>
          </p:cNvPr>
          <p:cNvSpPr/>
          <p:nvPr/>
        </p:nvSpPr>
        <p:spPr>
          <a:xfrm>
            <a:off x="1016000" y="3014133"/>
            <a:ext cx="10160000" cy="1337734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9B36834-E159-4281-BD06-9D3BF90DB401}"/>
              </a:ext>
            </a:extLst>
          </p:cNvPr>
          <p:cNvSpPr/>
          <p:nvPr/>
        </p:nvSpPr>
        <p:spPr>
          <a:xfrm>
            <a:off x="1193800" y="3479800"/>
            <a:ext cx="457200" cy="406400"/>
          </a:xfrm>
          <a:prstGeom prst="round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 b="1">
                <a:solidFill>
                  <a:srgbClr val="FFFFFF"/>
                </a:solidFill>
                <a:latin typeface="Segoe UI" panose="020B0502040204020203" pitchFamily="34" charset="0"/>
              </a:rPr>
              <a:t>02</a:t>
            </a:r>
          </a:p>
        </p:txBody>
      </p:sp>
      <p:sp useBgFill="1">
        <p:nvSpPr>
          <p:cNvPr id="9" name="ZoneTexte 8">
            <a:extLst>
              <a:ext uri="{FF2B5EF4-FFF2-40B4-BE49-F238E27FC236}">
                <a16:creationId xmlns:a16="http://schemas.microsoft.com/office/drawing/2014/main" id="{455511B7-8EED-AF3E-F9A5-A9E040A0CB71}"/>
              </a:ext>
            </a:extLst>
          </p:cNvPr>
          <p:cNvSpPr txBox="1"/>
          <p:nvPr/>
        </p:nvSpPr>
        <p:spPr>
          <a:xfrm>
            <a:off x="1803400" y="3064933"/>
            <a:ext cx="7874000" cy="523220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0F172A"/>
                </a:solidFill>
                <a:latin typeface="Segoe UI" panose="020B0502040204020203" pitchFamily="34" charset="0"/>
              </a:rPr>
              <a:t>Product Architecture &amp; AI Engine
Live MCP protocol integration</a:t>
            </a:r>
            <a:endParaRPr lang="fr-FR" sz="1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3AD40645-2BE1-3C33-E372-5B3F123C005C}"/>
              </a:ext>
            </a:extLst>
          </p:cNvPr>
          <p:cNvSpPr/>
          <p:nvPr/>
        </p:nvSpPr>
        <p:spPr>
          <a:xfrm>
            <a:off x="9779000" y="3517900"/>
            <a:ext cx="1143000" cy="330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>
                <a:solidFill>
                  <a:srgbClr val="64748B"/>
                </a:solidFill>
                <a:latin typeface="Segoe UI" panose="020B0502040204020203" pitchFamily="34" charset="0"/>
              </a:rPr>
              <a:t>20 min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15197D36-19B1-B50C-E5E5-A7BFC86C0A05}"/>
              </a:ext>
            </a:extLst>
          </p:cNvPr>
          <p:cNvSpPr/>
          <p:nvPr/>
        </p:nvSpPr>
        <p:spPr>
          <a:xfrm>
            <a:off x="1016000" y="4453467"/>
            <a:ext cx="10160000" cy="133773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C0E9D6E2-FC9B-6C86-0792-52F344FC27B7}"/>
              </a:ext>
            </a:extLst>
          </p:cNvPr>
          <p:cNvSpPr/>
          <p:nvPr/>
        </p:nvSpPr>
        <p:spPr>
          <a:xfrm>
            <a:off x="1193800" y="4919133"/>
            <a:ext cx="457200" cy="406400"/>
          </a:xfrm>
          <a:prstGeom prst="round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 b="1">
                <a:solidFill>
                  <a:srgbClr val="475569"/>
                </a:solidFill>
                <a:latin typeface="Segoe UI" panose="020B0502040204020203" pitchFamily="34" charset="0"/>
              </a:rPr>
              <a:t>03</a:t>
            </a:r>
          </a:p>
        </p:txBody>
      </p:sp>
      <p:sp useBgFill="1">
        <p:nvSpPr>
          <p:cNvPr id="13" name="ZoneTexte 12">
            <a:extLst>
              <a:ext uri="{FF2B5EF4-FFF2-40B4-BE49-F238E27FC236}">
                <a16:creationId xmlns:a16="http://schemas.microsoft.com/office/drawing/2014/main" id="{5C636DC8-0B2D-66FF-597E-CDF8096A4448}"/>
              </a:ext>
            </a:extLst>
          </p:cNvPr>
          <p:cNvSpPr txBox="1"/>
          <p:nvPr/>
        </p:nvSpPr>
        <p:spPr>
          <a:xfrm>
            <a:off x="1803400" y="4504267"/>
            <a:ext cx="7874000" cy="523220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0F172A"/>
                </a:solidFill>
                <a:latin typeface="Segoe UI" panose="020B0502040204020203" pitchFamily="34" charset="0"/>
              </a:rPr>
              <a:t>Financial Projections &amp; Roadmap
3-year forecast and team scaling</a:t>
            </a:r>
            <a:endParaRPr lang="fr-FR" sz="1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C0D7F8E2-B042-F9EA-2A3F-397D44F8CB49}"/>
              </a:ext>
            </a:extLst>
          </p:cNvPr>
          <p:cNvSpPr/>
          <p:nvPr/>
        </p:nvSpPr>
        <p:spPr>
          <a:xfrm>
            <a:off x="9779000" y="4957233"/>
            <a:ext cx="1143000" cy="330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>
                <a:solidFill>
                  <a:srgbClr val="64748B"/>
                </a:solidFill>
                <a:latin typeface="Segoe UI" panose="020B0502040204020203" pitchFamily="34" charset="0"/>
              </a:rPr>
              <a:t>15 min</a:t>
            </a:r>
          </a:p>
        </p:txBody>
      </p:sp>
    </p:spTree>
    <p:extLst>
      <p:ext uri="{BB962C8B-B14F-4D97-AF65-F5344CB8AC3E}">
        <p14:creationId xmlns:p14="http://schemas.microsoft.com/office/powerpoint/2010/main" val="3125535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ZoneTexte 21">
            <a:extLst>
              <a:ext uri="{FF2B5EF4-FFF2-40B4-BE49-F238E27FC236}">
                <a16:creationId xmlns:a16="http://schemas.microsoft.com/office/drawing/2014/main" id="{2B3B2B30-D7A2-A066-C1E6-6A6F70814DF5}"/>
              </a:ext>
            </a:extLst>
          </p:cNvPr>
          <p:cNvSpPr txBox="1"/>
          <p:nvPr/>
        </p:nvSpPr>
        <p:spPr>
          <a:xfrm rot="-1800000">
            <a:off x="508000" y="2732614"/>
            <a:ext cx="11176000" cy="1138773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pPr algn="ctr"/>
            <a:r>
              <a:rPr lang="fr-FR" sz="6800" b="1">
                <a:solidFill>
                  <a:srgbClr val="E2E8F0"/>
                </a:solidFill>
                <a:latin typeface="Segoe UI" panose="020B0502040204020203" pitchFamily="34" charset="0"/>
              </a:rPr>
              <a:t>CONFIDENTIAL DRAFT</a:t>
            </a:r>
          </a:p>
        </p:txBody>
      </p:sp>
      <p:sp useBgFill="1">
        <p:nvSpPr>
          <p:cNvPr id="2" name="ZoneTexte 1">
            <a:extLst>
              <a:ext uri="{FF2B5EF4-FFF2-40B4-BE49-F238E27FC236}">
                <a16:creationId xmlns:a16="http://schemas.microsoft.com/office/drawing/2014/main" id="{4C9E7411-919E-A849-AAA0-F4B0642B5271}"/>
              </a:ext>
            </a:extLst>
          </p:cNvPr>
          <p:cNvSpPr txBox="1"/>
          <p:nvPr/>
        </p:nvSpPr>
        <p:spPr>
          <a:xfrm>
            <a:off x="1016000" y="635000"/>
            <a:ext cx="10160000" cy="636072"/>
          </a:xfrm>
          <a:prstGeom prst="rect">
            <a:avLst/>
          </a:prstGeom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fr-FR" sz="2800" b="1">
                <a:solidFill>
                  <a:srgbClr val="0F172A"/>
                </a:solidFill>
                <a:latin typeface="Segoe UI" panose="020B0502040204020203" pitchFamily="34" charset="0"/>
              </a:rPr>
              <a:t>Product Development Lifecycle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BB964AAD-684A-B4A5-D79F-97C4487ED3F5}"/>
              </a:ext>
            </a:extLst>
          </p:cNvPr>
          <p:cNvSpPr/>
          <p:nvPr/>
        </p:nvSpPr>
        <p:spPr>
          <a:xfrm>
            <a:off x="1016000" y="2349500"/>
            <a:ext cx="2311400" cy="273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0722313C-0E13-AEAA-4876-CBDE70C68473}"/>
              </a:ext>
            </a:extLst>
          </p:cNvPr>
          <p:cNvSpPr/>
          <p:nvPr/>
        </p:nvSpPr>
        <p:spPr>
          <a:xfrm>
            <a:off x="1879600" y="2032000"/>
            <a:ext cx="584200" cy="584200"/>
          </a:xfrm>
          <a:prstGeom prst="ellipse">
            <a:avLst/>
          </a:prstGeom>
          <a:solidFill>
            <a:srgbClr val="2563EB"/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>
                <a:solidFill>
                  <a:srgbClr val="FFFFFF"/>
                </a:solidFill>
                <a:latin typeface="Segoe UI" panose="020B0502040204020203" pitchFamily="34" charset="0"/>
              </a:rPr>
              <a:t>1</a:t>
            </a:r>
          </a:p>
        </p:txBody>
      </p:sp>
      <p:sp useBgFill="1">
        <p:nvSpPr>
          <p:cNvPr id="5" name="ZoneTexte 4">
            <a:extLst>
              <a:ext uri="{FF2B5EF4-FFF2-40B4-BE49-F238E27FC236}">
                <a16:creationId xmlns:a16="http://schemas.microsoft.com/office/drawing/2014/main" id="{00D69874-974D-7A41-A683-3690D3A72A9E}"/>
              </a:ext>
            </a:extLst>
          </p:cNvPr>
          <p:cNvSpPr txBox="1"/>
          <p:nvPr/>
        </p:nvSpPr>
        <p:spPr>
          <a:xfrm>
            <a:off x="1143000" y="2730500"/>
            <a:ext cx="2057400" cy="323165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pPr algn="ctr"/>
            <a:r>
              <a:rPr lang="fr-FR" sz="1500" b="1">
                <a:solidFill>
                  <a:srgbClr val="0F172A"/>
                </a:solidFill>
                <a:latin typeface="Segoe UI" panose="020B0502040204020203" pitchFamily="34" charset="0"/>
              </a:rPr>
              <a:t>Discovery</a:t>
            </a:r>
          </a:p>
        </p:txBody>
      </p:sp>
      <p:sp useBgFill="1">
        <p:nvSpPr>
          <p:cNvPr id="6" name="ZoneTexte 5">
            <a:extLst>
              <a:ext uri="{FF2B5EF4-FFF2-40B4-BE49-F238E27FC236}">
                <a16:creationId xmlns:a16="http://schemas.microsoft.com/office/drawing/2014/main" id="{5C4495A9-91D3-4272-DEB2-4F8BF9540C99}"/>
              </a:ext>
            </a:extLst>
          </p:cNvPr>
          <p:cNvSpPr txBox="1"/>
          <p:nvPr/>
        </p:nvSpPr>
        <p:spPr>
          <a:xfrm>
            <a:off x="1193800" y="3175000"/>
            <a:ext cx="1955800" cy="430887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algn="ctr"/>
            <a:r>
              <a:rPr lang="en-US" sz="1100">
                <a:solidFill>
                  <a:srgbClr val="64748B"/>
                </a:solidFill>
                <a:latin typeface="Segoe UI" panose="020B0502040204020203" pitchFamily="34" charset="0"/>
              </a:rPr>
              <a:t>User research and problem definition</a:t>
            </a:r>
            <a:endParaRPr lang="fr-FR" sz="11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Cylindre 6">
            <a:extLst>
              <a:ext uri="{FF2B5EF4-FFF2-40B4-BE49-F238E27FC236}">
                <a16:creationId xmlns:a16="http://schemas.microsoft.com/office/drawing/2014/main" id="{D85D53E9-1CCF-96F3-84E4-C25685FCD1FC}"/>
              </a:ext>
            </a:extLst>
          </p:cNvPr>
          <p:cNvSpPr/>
          <p:nvPr/>
        </p:nvSpPr>
        <p:spPr>
          <a:xfrm>
            <a:off x="3365500" y="2222500"/>
            <a:ext cx="228600" cy="177800"/>
          </a:xfrm>
          <a:prstGeom prst="can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5DD58A24-B808-D608-61A4-9F1ACF72C780}"/>
              </a:ext>
            </a:extLst>
          </p:cNvPr>
          <p:cNvSpPr/>
          <p:nvPr/>
        </p:nvSpPr>
        <p:spPr>
          <a:xfrm>
            <a:off x="3632200" y="2349500"/>
            <a:ext cx="2311400" cy="273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FB12559-1927-6AA4-9ACE-F91FCC78563C}"/>
              </a:ext>
            </a:extLst>
          </p:cNvPr>
          <p:cNvSpPr/>
          <p:nvPr/>
        </p:nvSpPr>
        <p:spPr>
          <a:xfrm>
            <a:off x="4495800" y="2032000"/>
            <a:ext cx="584200" cy="584200"/>
          </a:xfrm>
          <a:prstGeom prst="ellipse">
            <a:avLst/>
          </a:prstGeom>
          <a:solidFill>
            <a:srgbClr val="2563EB"/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>
                <a:solidFill>
                  <a:srgbClr val="FFFFFF"/>
                </a:solidFill>
                <a:latin typeface="Segoe UI" panose="020B0502040204020203" pitchFamily="34" charset="0"/>
              </a:rPr>
              <a:t>2</a:t>
            </a:r>
          </a:p>
        </p:txBody>
      </p:sp>
      <p:sp useBgFill="1">
        <p:nvSpPr>
          <p:cNvPr id="10" name="ZoneTexte 9">
            <a:extLst>
              <a:ext uri="{FF2B5EF4-FFF2-40B4-BE49-F238E27FC236}">
                <a16:creationId xmlns:a16="http://schemas.microsoft.com/office/drawing/2014/main" id="{E4689E45-8B8F-0545-37F8-7C4C47F9DE00}"/>
              </a:ext>
            </a:extLst>
          </p:cNvPr>
          <p:cNvSpPr txBox="1"/>
          <p:nvPr/>
        </p:nvSpPr>
        <p:spPr>
          <a:xfrm>
            <a:off x="3759200" y="2730500"/>
            <a:ext cx="2057400" cy="323165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pPr algn="ctr"/>
            <a:r>
              <a:rPr lang="fr-FR" sz="1500" b="1">
                <a:solidFill>
                  <a:srgbClr val="0F172A"/>
                </a:solidFill>
                <a:latin typeface="Segoe UI" panose="020B0502040204020203" pitchFamily="34" charset="0"/>
              </a:rPr>
              <a:t>Architecture</a:t>
            </a:r>
          </a:p>
        </p:txBody>
      </p:sp>
      <p:sp useBgFill="1">
        <p:nvSpPr>
          <p:cNvPr id="11" name="ZoneTexte 10">
            <a:extLst>
              <a:ext uri="{FF2B5EF4-FFF2-40B4-BE49-F238E27FC236}">
                <a16:creationId xmlns:a16="http://schemas.microsoft.com/office/drawing/2014/main" id="{807B324A-7A25-1D1A-E1FF-C755312CE7F1}"/>
              </a:ext>
            </a:extLst>
          </p:cNvPr>
          <p:cNvSpPr txBox="1"/>
          <p:nvPr/>
        </p:nvSpPr>
        <p:spPr>
          <a:xfrm>
            <a:off x="3810000" y="3175000"/>
            <a:ext cx="1955800" cy="430887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algn="ctr"/>
            <a:r>
              <a:rPr lang="en-US" sz="1100">
                <a:solidFill>
                  <a:srgbClr val="64748B"/>
                </a:solidFill>
                <a:latin typeface="Segoe UI" panose="020B0502040204020203" pitchFamily="34" charset="0"/>
              </a:rPr>
              <a:t>MCP server protocol and schemas</a:t>
            </a:r>
            <a:endParaRPr lang="fr-FR" sz="11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Cylindre 11">
            <a:extLst>
              <a:ext uri="{FF2B5EF4-FFF2-40B4-BE49-F238E27FC236}">
                <a16:creationId xmlns:a16="http://schemas.microsoft.com/office/drawing/2014/main" id="{664AF8A6-232F-4F82-DCD4-1452543AE726}"/>
              </a:ext>
            </a:extLst>
          </p:cNvPr>
          <p:cNvSpPr/>
          <p:nvPr/>
        </p:nvSpPr>
        <p:spPr>
          <a:xfrm>
            <a:off x="5981700" y="2222500"/>
            <a:ext cx="228600" cy="177800"/>
          </a:xfrm>
          <a:prstGeom prst="can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508D600C-48CF-0CC9-0F7A-3100C7EF77EF}"/>
              </a:ext>
            </a:extLst>
          </p:cNvPr>
          <p:cNvSpPr/>
          <p:nvPr/>
        </p:nvSpPr>
        <p:spPr>
          <a:xfrm>
            <a:off x="6248400" y="2349500"/>
            <a:ext cx="2311400" cy="273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45338A19-344B-243F-A3D0-B72035D96A83}"/>
              </a:ext>
            </a:extLst>
          </p:cNvPr>
          <p:cNvSpPr/>
          <p:nvPr/>
        </p:nvSpPr>
        <p:spPr>
          <a:xfrm>
            <a:off x="7112000" y="2032000"/>
            <a:ext cx="584200" cy="584200"/>
          </a:xfrm>
          <a:prstGeom prst="ellipse">
            <a:avLst/>
          </a:prstGeom>
          <a:solidFill>
            <a:srgbClr val="2563EB"/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>
                <a:solidFill>
                  <a:srgbClr val="FFFFFF"/>
                </a:solidFill>
                <a:latin typeface="Segoe UI" panose="020B0502040204020203" pitchFamily="34" charset="0"/>
              </a:rPr>
              <a:t>3</a:t>
            </a:r>
          </a:p>
        </p:txBody>
      </p:sp>
      <p:sp useBgFill="1">
        <p:nvSpPr>
          <p:cNvPr id="15" name="ZoneTexte 14">
            <a:extLst>
              <a:ext uri="{FF2B5EF4-FFF2-40B4-BE49-F238E27FC236}">
                <a16:creationId xmlns:a16="http://schemas.microsoft.com/office/drawing/2014/main" id="{26F7DFF9-4148-DFC7-2C95-CDAB10E685ED}"/>
              </a:ext>
            </a:extLst>
          </p:cNvPr>
          <p:cNvSpPr txBox="1"/>
          <p:nvPr/>
        </p:nvSpPr>
        <p:spPr>
          <a:xfrm>
            <a:off x="6375400" y="2730500"/>
            <a:ext cx="2057400" cy="323165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pPr algn="ctr"/>
            <a:r>
              <a:rPr lang="fr-FR" sz="1500" b="1">
                <a:solidFill>
                  <a:srgbClr val="0F172A"/>
                </a:solidFill>
                <a:latin typeface="Segoe UI" panose="020B0502040204020203" pitchFamily="34" charset="0"/>
              </a:rPr>
              <a:t>Implementation</a:t>
            </a:r>
          </a:p>
        </p:txBody>
      </p:sp>
      <p:sp useBgFill="1">
        <p:nvSpPr>
          <p:cNvPr id="16" name="ZoneTexte 15">
            <a:extLst>
              <a:ext uri="{FF2B5EF4-FFF2-40B4-BE49-F238E27FC236}">
                <a16:creationId xmlns:a16="http://schemas.microsoft.com/office/drawing/2014/main" id="{C02435B5-7E93-7241-CA00-3F578D10B96E}"/>
              </a:ext>
            </a:extLst>
          </p:cNvPr>
          <p:cNvSpPr txBox="1"/>
          <p:nvPr/>
        </p:nvSpPr>
        <p:spPr>
          <a:xfrm>
            <a:off x="6426200" y="3175000"/>
            <a:ext cx="1955800" cy="430887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algn="ctr"/>
            <a:r>
              <a:rPr lang="fr-FR" sz="1100">
                <a:solidFill>
                  <a:srgbClr val="64748B"/>
                </a:solidFill>
                <a:latin typeface="Segoe UI" panose="020B0502040204020203" pitchFamily="34" charset="0"/>
              </a:rPr>
              <a:t>Python COM automation &amp; FastMCP</a:t>
            </a:r>
          </a:p>
        </p:txBody>
      </p:sp>
      <p:sp>
        <p:nvSpPr>
          <p:cNvPr id="17" name="Cylindre 16">
            <a:extLst>
              <a:ext uri="{FF2B5EF4-FFF2-40B4-BE49-F238E27FC236}">
                <a16:creationId xmlns:a16="http://schemas.microsoft.com/office/drawing/2014/main" id="{CFD57E3E-E2AB-E03B-81BF-BD6AF1DD8510}"/>
              </a:ext>
            </a:extLst>
          </p:cNvPr>
          <p:cNvSpPr/>
          <p:nvPr/>
        </p:nvSpPr>
        <p:spPr>
          <a:xfrm>
            <a:off x="8597900" y="2222500"/>
            <a:ext cx="228600" cy="177800"/>
          </a:xfrm>
          <a:prstGeom prst="can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F38E74D7-3AB3-A095-7A7D-21CFFCE34E9C}"/>
              </a:ext>
            </a:extLst>
          </p:cNvPr>
          <p:cNvSpPr/>
          <p:nvPr/>
        </p:nvSpPr>
        <p:spPr>
          <a:xfrm>
            <a:off x="8864600" y="2349500"/>
            <a:ext cx="2311400" cy="273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13109592-5466-285D-18BA-5368555E7D12}"/>
              </a:ext>
            </a:extLst>
          </p:cNvPr>
          <p:cNvSpPr/>
          <p:nvPr/>
        </p:nvSpPr>
        <p:spPr>
          <a:xfrm>
            <a:off x="9728200" y="2032000"/>
            <a:ext cx="584200" cy="584200"/>
          </a:xfrm>
          <a:prstGeom prst="ellipse">
            <a:avLst/>
          </a:prstGeom>
          <a:solidFill>
            <a:srgbClr val="2563EB"/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>
                <a:solidFill>
                  <a:srgbClr val="FFFFFF"/>
                </a:solidFill>
                <a:latin typeface="Segoe UI" panose="020B0502040204020203" pitchFamily="34" charset="0"/>
              </a:rPr>
              <a:t>4</a:t>
            </a:r>
          </a:p>
        </p:txBody>
      </p:sp>
      <p:sp useBgFill="1">
        <p:nvSpPr>
          <p:cNvPr id="20" name="ZoneTexte 19">
            <a:extLst>
              <a:ext uri="{FF2B5EF4-FFF2-40B4-BE49-F238E27FC236}">
                <a16:creationId xmlns:a16="http://schemas.microsoft.com/office/drawing/2014/main" id="{863F0750-DA67-85B9-1CE6-04F7C43A9570}"/>
              </a:ext>
            </a:extLst>
          </p:cNvPr>
          <p:cNvSpPr txBox="1"/>
          <p:nvPr/>
        </p:nvSpPr>
        <p:spPr>
          <a:xfrm>
            <a:off x="8991600" y="2730500"/>
            <a:ext cx="2057400" cy="323165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pPr algn="ctr"/>
            <a:r>
              <a:rPr lang="fr-FR" sz="1500" b="1">
                <a:solidFill>
                  <a:srgbClr val="0F172A"/>
                </a:solidFill>
                <a:latin typeface="Segoe UI" panose="020B0502040204020203" pitchFamily="34" charset="0"/>
              </a:rPr>
              <a:t>Deployment</a:t>
            </a:r>
          </a:p>
        </p:txBody>
      </p:sp>
      <p:sp useBgFill="1">
        <p:nvSpPr>
          <p:cNvPr id="21" name="ZoneTexte 20">
            <a:extLst>
              <a:ext uri="{FF2B5EF4-FFF2-40B4-BE49-F238E27FC236}">
                <a16:creationId xmlns:a16="http://schemas.microsoft.com/office/drawing/2014/main" id="{9FAB0C8F-7865-7893-AC56-3C9EC20827B6}"/>
              </a:ext>
            </a:extLst>
          </p:cNvPr>
          <p:cNvSpPr txBox="1"/>
          <p:nvPr/>
        </p:nvSpPr>
        <p:spPr>
          <a:xfrm>
            <a:off x="9042400" y="3175000"/>
            <a:ext cx="1955800" cy="430887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algn="ctr"/>
            <a:r>
              <a:rPr lang="fr-FR" sz="1100">
                <a:solidFill>
                  <a:srgbClr val="64748B"/>
                </a:solidFill>
                <a:latin typeface="Segoe UI" panose="020B0502040204020203" pitchFamily="34" charset="0"/>
              </a:rPr>
              <a:t>Production release on GitHub</a:t>
            </a:r>
          </a:p>
        </p:txBody>
      </p:sp>
    </p:spTree>
    <p:extLst>
      <p:ext uri="{BB962C8B-B14F-4D97-AF65-F5344CB8AC3E}">
        <p14:creationId xmlns:p14="http://schemas.microsoft.com/office/powerpoint/2010/main" val="850641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ZoneTexte 22">
            <a:extLst>
              <a:ext uri="{FF2B5EF4-FFF2-40B4-BE49-F238E27FC236}">
                <a16:creationId xmlns:a16="http://schemas.microsoft.com/office/drawing/2014/main" id="{2A645BDE-A9E1-10F4-0CA5-168EF5E2C12E}"/>
              </a:ext>
            </a:extLst>
          </p:cNvPr>
          <p:cNvSpPr txBox="1"/>
          <p:nvPr/>
        </p:nvSpPr>
        <p:spPr>
          <a:xfrm rot="-1800000">
            <a:off x="508000" y="2732614"/>
            <a:ext cx="11176000" cy="1138773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pPr algn="ctr"/>
            <a:r>
              <a:rPr lang="fr-FR" sz="6800" b="1">
                <a:solidFill>
                  <a:srgbClr val="E2E8F0"/>
                </a:solidFill>
                <a:latin typeface="Segoe UI" panose="020B0502040204020203" pitchFamily="34" charset="0"/>
              </a:rPr>
              <a:t>CONFIDENTIAL DRAFT</a:t>
            </a:r>
          </a:p>
        </p:txBody>
      </p:sp>
      <p:sp useBgFill="1">
        <p:nvSpPr>
          <p:cNvPr id="2" name="ZoneTexte 1">
            <a:extLst>
              <a:ext uri="{FF2B5EF4-FFF2-40B4-BE49-F238E27FC236}">
                <a16:creationId xmlns:a16="http://schemas.microsoft.com/office/drawing/2014/main" id="{D156B6F4-DA97-E517-704F-022B38086969}"/>
              </a:ext>
            </a:extLst>
          </p:cNvPr>
          <p:cNvSpPr txBox="1"/>
          <p:nvPr/>
        </p:nvSpPr>
        <p:spPr>
          <a:xfrm>
            <a:off x="1016000" y="635000"/>
            <a:ext cx="10160000" cy="636072"/>
          </a:xfrm>
          <a:prstGeom prst="rect">
            <a:avLst/>
          </a:prstGeom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fr-FR" sz="2800" b="1">
                <a:solidFill>
                  <a:srgbClr val="0F172A"/>
                </a:solidFill>
                <a:latin typeface="Segoe UI" panose="020B0502040204020203" pitchFamily="34" charset="0"/>
              </a:rPr>
              <a:t>Platform Key Capabilities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4855AB0B-E314-31E7-0396-2F8B6AA666D9}"/>
              </a:ext>
            </a:extLst>
          </p:cNvPr>
          <p:cNvSpPr/>
          <p:nvPr/>
        </p:nvSpPr>
        <p:spPr>
          <a:xfrm>
            <a:off x="1016000" y="1778000"/>
            <a:ext cx="3217333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C9EC5864-6675-85AF-6AFC-96D8054FC0BA}"/>
              </a:ext>
            </a:extLst>
          </p:cNvPr>
          <p:cNvSpPr/>
          <p:nvPr/>
        </p:nvSpPr>
        <p:spPr>
          <a:xfrm>
            <a:off x="1066800" y="1803400"/>
            <a:ext cx="3115733" cy="50800"/>
          </a:xfrm>
          <a:prstGeom prst="round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03924F0B-C98B-7D0B-4D5D-A6C28544E304}"/>
              </a:ext>
            </a:extLst>
          </p:cNvPr>
          <p:cNvSpPr/>
          <p:nvPr/>
        </p:nvSpPr>
        <p:spPr>
          <a:xfrm>
            <a:off x="1219200" y="1955800"/>
            <a:ext cx="584200" cy="254000"/>
          </a:xfrm>
          <a:prstGeom prst="round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>
                <a:solidFill>
                  <a:srgbClr val="FFFFFF"/>
                </a:solidFill>
                <a:latin typeface="Segoe UI" panose="020B0502040204020203" pitchFamily="34" charset="0"/>
              </a:rPr>
              <a:t>LIVE</a:t>
            </a:r>
          </a:p>
        </p:txBody>
      </p:sp>
      <p:sp useBgFill="1">
        <p:nvSpPr>
          <p:cNvPr id="6" name="ZoneTexte 5">
            <a:extLst>
              <a:ext uri="{FF2B5EF4-FFF2-40B4-BE49-F238E27FC236}">
                <a16:creationId xmlns:a16="http://schemas.microsoft.com/office/drawing/2014/main" id="{60599768-B839-FFD0-5368-7A0FF0B97C4B}"/>
              </a:ext>
            </a:extLst>
          </p:cNvPr>
          <p:cNvSpPr txBox="1"/>
          <p:nvPr/>
        </p:nvSpPr>
        <p:spPr>
          <a:xfrm>
            <a:off x="1219200" y="2311400"/>
            <a:ext cx="2810933" cy="307777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1400" b="1">
                <a:solidFill>
                  <a:srgbClr val="0F172A"/>
                </a:solidFill>
                <a:latin typeface="Segoe UI" panose="020B0502040204020203" pitchFamily="34" charset="0"/>
              </a:rPr>
              <a:t>Real-Time Visual</a:t>
            </a:r>
          </a:p>
        </p:txBody>
      </p:sp>
      <p:sp useBgFill="1">
        <p:nvSpPr>
          <p:cNvPr id="7" name="ZoneTexte 6">
            <a:extLst>
              <a:ext uri="{FF2B5EF4-FFF2-40B4-BE49-F238E27FC236}">
                <a16:creationId xmlns:a16="http://schemas.microsoft.com/office/drawing/2014/main" id="{67EEC51A-63BF-4D5C-BC7C-CC9D8591B4C3}"/>
              </a:ext>
            </a:extLst>
          </p:cNvPr>
          <p:cNvSpPr txBox="1"/>
          <p:nvPr/>
        </p:nvSpPr>
        <p:spPr>
          <a:xfrm>
            <a:off x="1219200" y="2717800"/>
            <a:ext cx="2810933" cy="430887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64748B"/>
                </a:solidFill>
                <a:latin typeface="Segoe UI" panose="020B0502040204020203" pitchFamily="34" charset="0"/>
              </a:rPr>
              <a:t>Every edit happens visibly in the active PowerPoint window.</a:t>
            </a:r>
            <a:endParaRPr lang="fr-FR" sz="11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045F8AC5-DA8F-8CD7-7C1F-C720352AD06F}"/>
              </a:ext>
            </a:extLst>
          </p:cNvPr>
          <p:cNvSpPr/>
          <p:nvPr/>
        </p:nvSpPr>
        <p:spPr>
          <a:xfrm>
            <a:off x="4487333" y="1778000"/>
            <a:ext cx="3217334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4DC140FC-CFB7-E963-7E13-C28859D88A3A}"/>
              </a:ext>
            </a:extLst>
          </p:cNvPr>
          <p:cNvSpPr/>
          <p:nvPr/>
        </p:nvSpPr>
        <p:spPr>
          <a:xfrm>
            <a:off x="4538133" y="1803400"/>
            <a:ext cx="3115734" cy="50800"/>
          </a:xfrm>
          <a:prstGeom prst="round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F6CDAB73-31DA-1E7D-058B-45719D17DFDD}"/>
              </a:ext>
            </a:extLst>
          </p:cNvPr>
          <p:cNvSpPr/>
          <p:nvPr/>
        </p:nvSpPr>
        <p:spPr>
          <a:xfrm>
            <a:off x="4690533" y="1955800"/>
            <a:ext cx="990600" cy="254000"/>
          </a:xfrm>
          <a:prstGeom prst="round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>
                <a:solidFill>
                  <a:srgbClr val="FFFFFF"/>
                </a:solidFill>
                <a:latin typeface="Segoe UI" panose="020B0502040204020203" pitchFamily="34" charset="0"/>
              </a:rPr>
              <a:t>STANDARD</a:t>
            </a:r>
          </a:p>
        </p:txBody>
      </p:sp>
      <p:sp useBgFill="1">
        <p:nvSpPr>
          <p:cNvPr id="11" name="ZoneTexte 10">
            <a:extLst>
              <a:ext uri="{FF2B5EF4-FFF2-40B4-BE49-F238E27FC236}">
                <a16:creationId xmlns:a16="http://schemas.microsoft.com/office/drawing/2014/main" id="{EB2EBFEB-4CB4-3FDF-DA72-FD44E320CED6}"/>
              </a:ext>
            </a:extLst>
          </p:cNvPr>
          <p:cNvSpPr txBox="1"/>
          <p:nvPr/>
        </p:nvSpPr>
        <p:spPr>
          <a:xfrm>
            <a:off x="4690533" y="2311400"/>
            <a:ext cx="2810933" cy="307777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1400" b="1">
                <a:solidFill>
                  <a:srgbClr val="0F172A"/>
                </a:solidFill>
                <a:latin typeface="Segoe UI" panose="020B0502040204020203" pitchFamily="34" charset="0"/>
              </a:rPr>
              <a:t>FastMCP Architecture</a:t>
            </a:r>
          </a:p>
        </p:txBody>
      </p:sp>
      <p:sp useBgFill="1">
        <p:nvSpPr>
          <p:cNvPr id="12" name="ZoneTexte 11">
            <a:extLst>
              <a:ext uri="{FF2B5EF4-FFF2-40B4-BE49-F238E27FC236}">
                <a16:creationId xmlns:a16="http://schemas.microsoft.com/office/drawing/2014/main" id="{6A44BC24-E494-7011-2C9D-7E82B76D6257}"/>
              </a:ext>
            </a:extLst>
          </p:cNvPr>
          <p:cNvSpPr txBox="1"/>
          <p:nvPr/>
        </p:nvSpPr>
        <p:spPr>
          <a:xfrm>
            <a:off x="4690533" y="2717800"/>
            <a:ext cx="2810933" cy="430887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64748B"/>
                </a:solidFill>
                <a:latin typeface="Segoe UI" panose="020B0502040204020203" pitchFamily="34" charset="0"/>
              </a:rPr>
              <a:t>Native Model Context Protocol for Claude, Antigravity, and Codex.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68BB961A-F961-C6A7-841B-FCB697512CD6}"/>
              </a:ext>
            </a:extLst>
          </p:cNvPr>
          <p:cNvSpPr/>
          <p:nvPr/>
        </p:nvSpPr>
        <p:spPr>
          <a:xfrm>
            <a:off x="7958667" y="1778000"/>
            <a:ext cx="3217333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C142CCF3-890C-5266-1853-FA0D0379FDD4}"/>
              </a:ext>
            </a:extLst>
          </p:cNvPr>
          <p:cNvSpPr/>
          <p:nvPr/>
        </p:nvSpPr>
        <p:spPr>
          <a:xfrm>
            <a:off x="8009467" y="1803400"/>
            <a:ext cx="3115733" cy="50800"/>
          </a:xfrm>
          <a:prstGeom prst="roundRect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934826ED-7CDA-ECA4-5F6B-50A809A5BFAB}"/>
              </a:ext>
            </a:extLst>
          </p:cNvPr>
          <p:cNvSpPr/>
          <p:nvPr/>
        </p:nvSpPr>
        <p:spPr>
          <a:xfrm>
            <a:off x="8161867" y="1955800"/>
            <a:ext cx="685800" cy="254000"/>
          </a:xfrm>
          <a:prstGeom prst="roundRect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>
                <a:solidFill>
                  <a:srgbClr val="FFFFFF"/>
                </a:solidFill>
                <a:latin typeface="Segoe UI" panose="020B0502040204020203" pitchFamily="34" charset="0"/>
              </a:rPr>
              <a:t>POWER</a:t>
            </a:r>
          </a:p>
        </p:txBody>
      </p:sp>
      <p:sp useBgFill="1">
        <p:nvSpPr>
          <p:cNvPr id="16" name="ZoneTexte 15">
            <a:extLst>
              <a:ext uri="{FF2B5EF4-FFF2-40B4-BE49-F238E27FC236}">
                <a16:creationId xmlns:a16="http://schemas.microsoft.com/office/drawing/2014/main" id="{74F67DD7-360B-655E-4F0A-445CB058139F}"/>
              </a:ext>
            </a:extLst>
          </p:cNvPr>
          <p:cNvSpPr txBox="1"/>
          <p:nvPr/>
        </p:nvSpPr>
        <p:spPr>
          <a:xfrm>
            <a:off x="8161867" y="2311400"/>
            <a:ext cx="2810933" cy="307777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1400" b="1">
                <a:solidFill>
                  <a:srgbClr val="0F172A"/>
                </a:solidFill>
                <a:latin typeface="Segoe UI" panose="020B0502040204020203" pitchFamily="34" charset="0"/>
              </a:rPr>
              <a:t>48+ Rich Tools</a:t>
            </a:r>
          </a:p>
        </p:txBody>
      </p:sp>
      <p:sp useBgFill="1">
        <p:nvSpPr>
          <p:cNvPr id="17" name="ZoneTexte 16">
            <a:extLst>
              <a:ext uri="{FF2B5EF4-FFF2-40B4-BE49-F238E27FC236}">
                <a16:creationId xmlns:a16="http://schemas.microsoft.com/office/drawing/2014/main" id="{F3D8232D-B764-8FA2-7911-8CE956207C99}"/>
              </a:ext>
            </a:extLst>
          </p:cNvPr>
          <p:cNvSpPr txBox="1"/>
          <p:nvPr/>
        </p:nvSpPr>
        <p:spPr>
          <a:xfrm>
            <a:off x="8161867" y="2717800"/>
            <a:ext cx="2810933" cy="430887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64748B"/>
                </a:solidFill>
                <a:latin typeface="Segoe UI" panose="020B0502040204020203" pitchFamily="34" charset="0"/>
              </a:rPr>
              <a:t>Charts, cards, timelines, matrices, callouts, and animations.</a:t>
            </a:r>
            <a:endParaRPr lang="fr-FR" sz="11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80A2B0ED-D52C-B7A0-560D-AA05E58CF87E}"/>
              </a:ext>
            </a:extLst>
          </p:cNvPr>
          <p:cNvSpPr/>
          <p:nvPr/>
        </p:nvSpPr>
        <p:spPr>
          <a:xfrm>
            <a:off x="1016000" y="4572000"/>
            <a:ext cx="10160000" cy="12700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EB777C2A-8131-5E6E-C116-F125AA3892E0}"/>
              </a:ext>
            </a:extLst>
          </p:cNvPr>
          <p:cNvSpPr/>
          <p:nvPr/>
        </p:nvSpPr>
        <p:spPr>
          <a:xfrm>
            <a:off x="1016000" y="4572000"/>
            <a:ext cx="76200" cy="1270000"/>
          </a:xfrm>
          <a:prstGeom prst="roundRect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76B2C719-CD34-83EE-7F73-1F81BF94337C}"/>
              </a:ext>
            </a:extLst>
          </p:cNvPr>
          <p:cNvSpPr/>
          <p:nvPr/>
        </p:nvSpPr>
        <p:spPr>
          <a:xfrm>
            <a:off x="1270000" y="4749800"/>
            <a:ext cx="889000" cy="279400"/>
          </a:xfrm>
          <a:prstGeom prst="roundRect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>
                <a:solidFill>
                  <a:srgbClr val="FFFFFF"/>
                </a:solidFill>
                <a:latin typeface="Segoe UI" panose="020B0502040204020203" pitchFamily="34" charset="0"/>
              </a:rPr>
              <a:t>[*] TIP</a:t>
            </a:r>
          </a:p>
        </p:txBody>
      </p:sp>
      <p:sp useBgFill="1">
        <p:nvSpPr>
          <p:cNvPr id="21" name="ZoneTexte 20">
            <a:extLst>
              <a:ext uri="{FF2B5EF4-FFF2-40B4-BE49-F238E27FC236}">
                <a16:creationId xmlns:a16="http://schemas.microsoft.com/office/drawing/2014/main" id="{ED043584-6216-E29B-ACCF-D0365A49034A}"/>
              </a:ext>
            </a:extLst>
          </p:cNvPr>
          <p:cNvSpPr txBox="1"/>
          <p:nvPr/>
        </p:nvSpPr>
        <p:spPr>
          <a:xfrm>
            <a:off x="2235200" y="4724400"/>
            <a:ext cx="8763000" cy="307777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it-IT" sz="1400" b="1">
                <a:solidFill>
                  <a:srgbClr val="0F172A"/>
                </a:solidFill>
                <a:latin typeface="Segoe UI" panose="020B0502040204020203" pitchFamily="34" charset="0"/>
              </a:rPr>
              <a:t>PRO TIP FOR AI AGENTS</a:t>
            </a:r>
            <a:endParaRPr lang="fr-FR" sz="1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 useBgFill="1">
        <p:nvSpPr>
          <p:cNvPr id="22" name="ZoneTexte 21">
            <a:extLst>
              <a:ext uri="{FF2B5EF4-FFF2-40B4-BE49-F238E27FC236}">
                <a16:creationId xmlns:a16="http://schemas.microsoft.com/office/drawing/2014/main" id="{3FDB1C9E-0409-0CDA-3621-36AF6BF7E630}"/>
              </a:ext>
            </a:extLst>
          </p:cNvPr>
          <p:cNvSpPr txBox="1"/>
          <p:nvPr/>
        </p:nvSpPr>
        <p:spPr>
          <a:xfrm>
            <a:off x="1270000" y="5105400"/>
            <a:ext cx="9652000" cy="276999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334155"/>
                </a:solidFill>
                <a:latin typeface="Segoe UI" panose="020B0502040204020203" pitchFamily="34" charset="0"/>
              </a:rPr>
              <a:t>The server automatically bridges Claude Desktop and Antigravity with Windows COM for sub-10ms response times.</a:t>
            </a:r>
            <a:endParaRPr lang="fr-FR" sz="12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1673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ZoneTexte 23">
            <a:extLst>
              <a:ext uri="{FF2B5EF4-FFF2-40B4-BE49-F238E27FC236}">
                <a16:creationId xmlns:a16="http://schemas.microsoft.com/office/drawing/2014/main" id="{F7126223-6089-F35A-907C-EA7C04A9B496}"/>
              </a:ext>
            </a:extLst>
          </p:cNvPr>
          <p:cNvSpPr txBox="1"/>
          <p:nvPr/>
        </p:nvSpPr>
        <p:spPr>
          <a:xfrm rot="-1800000">
            <a:off x="508000" y="2732614"/>
            <a:ext cx="11176000" cy="1138773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pPr algn="ctr"/>
            <a:r>
              <a:rPr lang="fr-FR" sz="6800" b="1">
                <a:solidFill>
                  <a:srgbClr val="E2E8F0"/>
                </a:solidFill>
                <a:latin typeface="Segoe UI" panose="020B0502040204020203" pitchFamily="34" charset="0"/>
              </a:rPr>
              <a:t>CONFIDENTIAL DRAFT</a:t>
            </a:r>
          </a:p>
        </p:txBody>
      </p:sp>
      <p:sp useBgFill="1">
        <p:nvSpPr>
          <p:cNvPr id="2" name="ZoneTexte 1">
            <a:extLst>
              <a:ext uri="{FF2B5EF4-FFF2-40B4-BE49-F238E27FC236}">
                <a16:creationId xmlns:a16="http://schemas.microsoft.com/office/drawing/2014/main" id="{CC93684C-309A-D73E-A67A-1D7469F0F624}"/>
              </a:ext>
            </a:extLst>
          </p:cNvPr>
          <p:cNvSpPr txBox="1"/>
          <p:nvPr/>
        </p:nvSpPr>
        <p:spPr>
          <a:xfrm>
            <a:off x="1016000" y="635000"/>
            <a:ext cx="10160000" cy="636072"/>
          </a:xfrm>
          <a:prstGeom prst="rect">
            <a:avLst/>
          </a:prstGeom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fr-FR" sz="2800" b="1">
                <a:solidFill>
                  <a:srgbClr val="0F172A"/>
                </a:solidFill>
                <a:latin typeface="Segoe UI" panose="020B0502040204020203" pitchFamily="34" charset="0"/>
              </a:rPr>
              <a:t>Leadership &amp; Engineering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EB419056-612B-F30E-13D9-BE7F6F78B8B8}"/>
              </a:ext>
            </a:extLst>
          </p:cNvPr>
          <p:cNvSpPr/>
          <p:nvPr/>
        </p:nvSpPr>
        <p:spPr>
          <a:xfrm>
            <a:off x="1016000" y="1778000"/>
            <a:ext cx="48260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310927AD-F308-4037-3C0C-330EEC55EAB8}"/>
              </a:ext>
            </a:extLst>
          </p:cNvPr>
          <p:cNvSpPr/>
          <p:nvPr/>
        </p:nvSpPr>
        <p:spPr>
          <a:xfrm>
            <a:off x="1270000" y="2032000"/>
            <a:ext cx="711200" cy="7112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>
                <a:solidFill>
                  <a:srgbClr val="FFFFFF"/>
                </a:solidFill>
                <a:latin typeface="Segoe UI" panose="020B0502040204020203" pitchFamily="34" charset="0"/>
              </a:rPr>
              <a:t>OO</a:t>
            </a:r>
          </a:p>
        </p:txBody>
      </p:sp>
      <p:sp useBgFill="1">
        <p:nvSpPr>
          <p:cNvPr id="5" name="ZoneTexte 4">
            <a:extLst>
              <a:ext uri="{FF2B5EF4-FFF2-40B4-BE49-F238E27FC236}">
                <a16:creationId xmlns:a16="http://schemas.microsoft.com/office/drawing/2014/main" id="{423618B8-7970-9EC1-8F7E-BDBE55BE0052}"/>
              </a:ext>
            </a:extLst>
          </p:cNvPr>
          <p:cNvSpPr txBox="1"/>
          <p:nvPr/>
        </p:nvSpPr>
        <p:spPr>
          <a:xfrm>
            <a:off x="2184400" y="2006600"/>
            <a:ext cx="3454400" cy="338554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1600" b="1">
                <a:solidFill>
                  <a:srgbClr val="0F172A"/>
                </a:solidFill>
                <a:latin typeface="Segoe UI" panose="020B0502040204020203" pitchFamily="34" charset="0"/>
              </a:rPr>
              <a:t>Oussama Ouns</a:t>
            </a:r>
          </a:p>
        </p:txBody>
      </p:sp>
      <p:sp useBgFill="1">
        <p:nvSpPr>
          <p:cNvPr id="6" name="ZoneTexte 5">
            <a:extLst>
              <a:ext uri="{FF2B5EF4-FFF2-40B4-BE49-F238E27FC236}">
                <a16:creationId xmlns:a16="http://schemas.microsoft.com/office/drawing/2014/main" id="{9C71EB03-3AE7-3ABA-21D7-23CA4ADBEB72}"/>
              </a:ext>
            </a:extLst>
          </p:cNvPr>
          <p:cNvSpPr txBox="1"/>
          <p:nvPr/>
        </p:nvSpPr>
        <p:spPr>
          <a:xfrm>
            <a:off x="2184400" y="2336800"/>
            <a:ext cx="3454400" cy="276999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1200" b="1">
                <a:solidFill>
                  <a:srgbClr val="2563EB"/>
                </a:solidFill>
                <a:latin typeface="Segoe UI" panose="020B0502040204020203" pitchFamily="34" charset="0"/>
              </a:rPr>
              <a:t>Lead Systems &amp; AI Architect</a:t>
            </a:r>
          </a:p>
        </p:txBody>
      </p:sp>
      <p:sp useBgFill="1">
        <p:nvSpPr>
          <p:cNvPr id="7" name="ZoneTexte 6">
            <a:extLst>
              <a:ext uri="{FF2B5EF4-FFF2-40B4-BE49-F238E27FC236}">
                <a16:creationId xmlns:a16="http://schemas.microsoft.com/office/drawing/2014/main" id="{53E4CF8A-808B-BC4B-D87E-02C5676066D7}"/>
              </a:ext>
            </a:extLst>
          </p:cNvPr>
          <p:cNvSpPr txBox="1"/>
          <p:nvPr/>
        </p:nvSpPr>
        <p:spPr>
          <a:xfrm>
            <a:off x="2184400" y="2590800"/>
            <a:ext cx="3454400" cy="246221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1000">
                <a:solidFill>
                  <a:srgbClr val="64748B"/>
                </a:solidFill>
                <a:latin typeface="Segoe UI" panose="020B0502040204020203" pitchFamily="34" charset="0"/>
              </a:rPr>
              <a:t>Core Infrastructure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AB0467-1304-B576-E147-83F64FE796F1}"/>
              </a:ext>
            </a:extLst>
          </p:cNvPr>
          <p:cNvSpPr/>
          <p:nvPr/>
        </p:nvSpPr>
        <p:spPr>
          <a:xfrm>
            <a:off x="1270000" y="2946400"/>
            <a:ext cx="4318000" cy="127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 useBgFill="1">
        <p:nvSpPr>
          <p:cNvPr id="9" name="ZoneTexte 8">
            <a:extLst>
              <a:ext uri="{FF2B5EF4-FFF2-40B4-BE49-F238E27FC236}">
                <a16:creationId xmlns:a16="http://schemas.microsoft.com/office/drawing/2014/main" id="{0B346C1C-2C5F-35DF-4E01-452F09D13CC2}"/>
              </a:ext>
            </a:extLst>
          </p:cNvPr>
          <p:cNvSpPr txBox="1"/>
          <p:nvPr/>
        </p:nvSpPr>
        <p:spPr>
          <a:xfrm>
            <a:off x="1270000" y="3073400"/>
            <a:ext cx="4318000" cy="430887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475569"/>
                </a:solidFill>
                <a:latin typeface="Segoe UI" panose="020B0502040204020203" pitchFamily="34" charset="0"/>
              </a:rPr>
              <a:t>Pioneering real-time generative UI and desktop automation protocols for next-generation AI agents.</a:t>
            </a:r>
            <a:endParaRPr lang="fr-FR" sz="1100">
              <a:solidFill>
                <a:srgbClr val="475569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A2805401-7C2F-5CA6-BBB4-DAD44B6F2B18}"/>
              </a:ext>
            </a:extLst>
          </p:cNvPr>
          <p:cNvSpPr/>
          <p:nvPr/>
        </p:nvSpPr>
        <p:spPr>
          <a:xfrm>
            <a:off x="1270000" y="4622800"/>
            <a:ext cx="787400" cy="254000"/>
          </a:xfrm>
          <a:prstGeom prst="round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>
                <a:solidFill>
                  <a:srgbClr val="475569"/>
                </a:solidFill>
                <a:latin typeface="Segoe UI" panose="020B0502040204020203" pitchFamily="34" charset="0"/>
              </a:rPr>
              <a:t>Python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262BBD92-A735-8DA6-2E70-4C51F7D53D09}"/>
              </a:ext>
            </a:extLst>
          </p:cNvPr>
          <p:cNvSpPr/>
          <p:nvPr/>
        </p:nvSpPr>
        <p:spPr>
          <a:xfrm>
            <a:off x="2159000" y="4622800"/>
            <a:ext cx="889000" cy="254000"/>
          </a:xfrm>
          <a:prstGeom prst="round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>
                <a:solidFill>
                  <a:srgbClr val="475569"/>
                </a:solidFill>
                <a:latin typeface="Segoe UI" panose="020B0502040204020203" pitchFamily="34" charset="0"/>
              </a:rPr>
              <a:t>FastMCP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0099DDAC-AC8D-4777-1897-E24F53F62458}"/>
              </a:ext>
            </a:extLst>
          </p:cNvPr>
          <p:cNvSpPr/>
          <p:nvPr/>
        </p:nvSpPr>
        <p:spPr>
          <a:xfrm>
            <a:off x="3149600" y="4622800"/>
            <a:ext cx="1079500" cy="254000"/>
          </a:xfrm>
          <a:prstGeom prst="round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>
                <a:solidFill>
                  <a:srgbClr val="475569"/>
                </a:solidFill>
                <a:latin typeface="Segoe UI" panose="020B0502040204020203" pitchFamily="34" charset="0"/>
              </a:rPr>
              <a:t>COM Automation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2D246B7C-668B-D746-2C8A-779BB4399D8B}"/>
              </a:ext>
            </a:extLst>
          </p:cNvPr>
          <p:cNvSpPr/>
          <p:nvPr/>
        </p:nvSpPr>
        <p:spPr>
          <a:xfrm>
            <a:off x="4330700" y="4622800"/>
            <a:ext cx="381000" cy="254000"/>
          </a:xfrm>
          <a:prstGeom prst="round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>
                <a:solidFill>
                  <a:srgbClr val="475569"/>
                </a:solidFill>
                <a:latin typeface="Segoe UI" panose="020B0502040204020203" pitchFamily="34" charset="0"/>
              </a:rPr>
              <a:t>AI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CE23623F-0BA6-4A76-D430-1525C9A75C01}"/>
              </a:ext>
            </a:extLst>
          </p:cNvPr>
          <p:cNvSpPr/>
          <p:nvPr/>
        </p:nvSpPr>
        <p:spPr>
          <a:xfrm>
            <a:off x="6350000" y="1778000"/>
            <a:ext cx="48260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4C4E5CC7-C4B3-2377-B881-AAE5557BF6C5}"/>
              </a:ext>
            </a:extLst>
          </p:cNvPr>
          <p:cNvSpPr/>
          <p:nvPr/>
        </p:nvSpPr>
        <p:spPr>
          <a:xfrm>
            <a:off x="6604000" y="2032000"/>
            <a:ext cx="711200" cy="711200"/>
          </a:xfrm>
          <a:prstGeom prst="ellipse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>
                <a:solidFill>
                  <a:srgbClr val="FFFFFF"/>
                </a:solidFill>
                <a:latin typeface="Segoe UI" panose="020B0502040204020203" pitchFamily="34" charset="0"/>
              </a:rPr>
              <a:t>SC</a:t>
            </a:r>
          </a:p>
        </p:txBody>
      </p:sp>
      <p:sp useBgFill="1">
        <p:nvSpPr>
          <p:cNvPr id="16" name="ZoneTexte 15">
            <a:extLst>
              <a:ext uri="{FF2B5EF4-FFF2-40B4-BE49-F238E27FC236}">
                <a16:creationId xmlns:a16="http://schemas.microsoft.com/office/drawing/2014/main" id="{252EFF8D-0A81-675A-0E65-76B9D55DB8CF}"/>
              </a:ext>
            </a:extLst>
          </p:cNvPr>
          <p:cNvSpPr txBox="1"/>
          <p:nvPr/>
        </p:nvSpPr>
        <p:spPr>
          <a:xfrm>
            <a:off x="7518400" y="2006600"/>
            <a:ext cx="3454400" cy="338554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1600" b="1">
                <a:solidFill>
                  <a:srgbClr val="0F172A"/>
                </a:solidFill>
                <a:latin typeface="Segoe UI" panose="020B0502040204020203" pitchFamily="34" charset="0"/>
              </a:rPr>
              <a:t>Sarah Chen</a:t>
            </a:r>
          </a:p>
        </p:txBody>
      </p:sp>
      <p:sp useBgFill="1">
        <p:nvSpPr>
          <p:cNvPr id="17" name="ZoneTexte 16">
            <a:extLst>
              <a:ext uri="{FF2B5EF4-FFF2-40B4-BE49-F238E27FC236}">
                <a16:creationId xmlns:a16="http://schemas.microsoft.com/office/drawing/2014/main" id="{06E22091-3580-001C-2E0F-D4A4CD0FEA53}"/>
              </a:ext>
            </a:extLst>
          </p:cNvPr>
          <p:cNvSpPr txBox="1"/>
          <p:nvPr/>
        </p:nvSpPr>
        <p:spPr>
          <a:xfrm>
            <a:off x="7518400" y="2336800"/>
            <a:ext cx="3454400" cy="276999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1200" b="1">
                <a:solidFill>
                  <a:srgbClr val="10B981"/>
                </a:solidFill>
                <a:latin typeface="Segoe UI" panose="020B0502040204020203" pitchFamily="34" charset="0"/>
              </a:rPr>
              <a:t>VP of Product Engineering</a:t>
            </a:r>
          </a:p>
        </p:txBody>
      </p:sp>
      <p:sp useBgFill="1">
        <p:nvSpPr>
          <p:cNvPr id="18" name="ZoneTexte 17">
            <a:extLst>
              <a:ext uri="{FF2B5EF4-FFF2-40B4-BE49-F238E27FC236}">
                <a16:creationId xmlns:a16="http://schemas.microsoft.com/office/drawing/2014/main" id="{070763B8-494D-F88A-4777-70CCD529D630}"/>
              </a:ext>
            </a:extLst>
          </p:cNvPr>
          <p:cNvSpPr txBox="1"/>
          <p:nvPr/>
        </p:nvSpPr>
        <p:spPr>
          <a:xfrm>
            <a:off x="7518400" y="2590800"/>
            <a:ext cx="3454400" cy="246221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1000">
                <a:solidFill>
                  <a:srgbClr val="64748B"/>
                </a:solidFill>
                <a:latin typeface="Segoe UI" panose="020B0502040204020203" pitchFamily="34" charset="0"/>
              </a:rPr>
              <a:t>Desktop Ecosystem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5BF83F-4672-260B-F416-65BA7FFF8AEC}"/>
              </a:ext>
            </a:extLst>
          </p:cNvPr>
          <p:cNvSpPr/>
          <p:nvPr/>
        </p:nvSpPr>
        <p:spPr>
          <a:xfrm>
            <a:off x="6604000" y="2946400"/>
            <a:ext cx="4318000" cy="127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 useBgFill="1">
        <p:nvSpPr>
          <p:cNvPr id="20" name="ZoneTexte 19">
            <a:extLst>
              <a:ext uri="{FF2B5EF4-FFF2-40B4-BE49-F238E27FC236}">
                <a16:creationId xmlns:a16="http://schemas.microsoft.com/office/drawing/2014/main" id="{2458FB16-F093-3F28-CD07-8978B5D60CD0}"/>
              </a:ext>
            </a:extLst>
          </p:cNvPr>
          <p:cNvSpPr txBox="1"/>
          <p:nvPr/>
        </p:nvSpPr>
        <p:spPr>
          <a:xfrm>
            <a:off x="6604000" y="3073400"/>
            <a:ext cx="4318000" cy="430887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475569"/>
                </a:solidFill>
                <a:latin typeface="Segoe UI" panose="020B0502040204020203" pitchFamily="34" charset="0"/>
              </a:rPr>
              <a:t>10+ years directing enterprise software workflows, Microsoft Office integrations, and devtools.</a:t>
            </a:r>
            <a:endParaRPr lang="fr-FR" sz="1100">
              <a:solidFill>
                <a:srgbClr val="475569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BC1CF588-AD75-2256-0CAE-326DCE42ED40}"/>
              </a:ext>
            </a:extLst>
          </p:cNvPr>
          <p:cNvSpPr/>
          <p:nvPr/>
        </p:nvSpPr>
        <p:spPr>
          <a:xfrm>
            <a:off x="6604000" y="4622800"/>
            <a:ext cx="1079500" cy="254000"/>
          </a:xfrm>
          <a:prstGeom prst="round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>
                <a:solidFill>
                  <a:srgbClr val="475569"/>
                </a:solidFill>
                <a:latin typeface="Segoe UI" panose="020B0502040204020203" pitchFamily="34" charset="0"/>
              </a:rPr>
              <a:t>Architecture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9F956E30-C6AF-2CA8-E0C6-9E9987499956}"/>
              </a:ext>
            </a:extLst>
          </p:cNvPr>
          <p:cNvSpPr/>
          <p:nvPr/>
        </p:nvSpPr>
        <p:spPr>
          <a:xfrm>
            <a:off x="7785100" y="4622800"/>
            <a:ext cx="1079500" cy="254000"/>
          </a:xfrm>
          <a:prstGeom prst="round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>
                <a:solidFill>
                  <a:srgbClr val="475569"/>
                </a:solidFill>
                <a:latin typeface="Segoe UI" panose="020B0502040204020203" pitchFamily="34" charset="0"/>
              </a:rPr>
              <a:t>Office COM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1EAD3542-58CE-6854-1443-5347B4976EA4}"/>
              </a:ext>
            </a:extLst>
          </p:cNvPr>
          <p:cNvSpPr/>
          <p:nvPr/>
        </p:nvSpPr>
        <p:spPr>
          <a:xfrm>
            <a:off x="8966200" y="4622800"/>
            <a:ext cx="787400" cy="254000"/>
          </a:xfrm>
          <a:prstGeom prst="round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>
                <a:solidFill>
                  <a:srgbClr val="475569"/>
                </a:solidFill>
                <a:latin typeface="Segoe UI" panose="020B0502040204020203" pitchFamily="34" charset="0"/>
              </a:rPr>
              <a:t>DevOps</a:t>
            </a:r>
          </a:p>
        </p:txBody>
      </p:sp>
    </p:spTree>
    <p:extLst>
      <p:ext uri="{BB962C8B-B14F-4D97-AF65-F5344CB8AC3E}">
        <p14:creationId xmlns:p14="http://schemas.microsoft.com/office/powerpoint/2010/main" val="1373293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ZoneTexte 3">
            <a:extLst>
              <a:ext uri="{FF2B5EF4-FFF2-40B4-BE49-F238E27FC236}">
                <a16:creationId xmlns:a16="http://schemas.microsoft.com/office/drawing/2014/main" id="{A40402D5-AB22-784A-D432-3DF9B497D6A2}"/>
              </a:ext>
            </a:extLst>
          </p:cNvPr>
          <p:cNvSpPr txBox="1"/>
          <p:nvPr/>
        </p:nvSpPr>
        <p:spPr>
          <a:xfrm rot="-1800000">
            <a:off x="508000" y="2732614"/>
            <a:ext cx="11176000" cy="1138773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pPr algn="ctr"/>
            <a:r>
              <a:rPr lang="fr-FR" sz="6800" b="1">
                <a:solidFill>
                  <a:srgbClr val="E2E8F0"/>
                </a:solidFill>
                <a:latin typeface="Segoe UI" panose="020B0502040204020203" pitchFamily="34" charset="0"/>
              </a:rPr>
              <a:t>CONFIDENTIAL DRAFT</a:t>
            </a:r>
          </a:p>
        </p:txBody>
      </p:sp>
      <p:sp useBgFill="1">
        <p:nvSpPr>
          <p:cNvPr id="2" name="ZoneTexte 1">
            <a:extLst>
              <a:ext uri="{FF2B5EF4-FFF2-40B4-BE49-F238E27FC236}">
                <a16:creationId xmlns:a16="http://schemas.microsoft.com/office/drawing/2014/main" id="{B6962492-80DE-A8CB-C7C9-5A017B0564D4}"/>
              </a:ext>
            </a:extLst>
          </p:cNvPr>
          <p:cNvSpPr txBox="1"/>
          <p:nvPr/>
        </p:nvSpPr>
        <p:spPr>
          <a:xfrm>
            <a:off x="1016000" y="635000"/>
            <a:ext cx="10160000" cy="636072"/>
          </a:xfrm>
          <a:prstGeom prst="rect">
            <a:avLst/>
          </a:prstGeom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fr-FR" sz="2800" b="1">
                <a:solidFill>
                  <a:srgbClr val="0F172A"/>
                </a:solidFill>
                <a:latin typeface="Segoe UI" panose="020B0502040204020203" pitchFamily="34" charset="0"/>
              </a:rPr>
              <a:t>Edition Feature Comparison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13A67E8D-39F1-2028-A6D1-6625F544DF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001377"/>
              </p:ext>
            </p:extLst>
          </p:nvPr>
        </p:nvGraphicFramePr>
        <p:xfrm>
          <a:off x="1016000" y="1651000"/>
          <a:ext cx="10160001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6667">
                  <a:extLst>
                    <a:ext uri="{9D8B030D-6E8A-4147-A177-3AD203B41FA5}">
                      <a16:colId xmlns:a16="http://schemas.microsoft.com/office/drawing/2014/main" val="165605647"/>
                    </a:ext>
                  </a:extLst>
                </a:gridCol>
                <a:gridCol w="3386667">
                  <a:extLst>
                    <a:ext uri="{9D8B030D-6E8A-4147-A177-3AD203B41FA5}">
                      <a16:colId xmlns:a16="http://schemas.microsoft.com/office/drawing/2014/main" val="3678405239"/>
                    </a:ext>
                  </a:extLst>
                </a:gridCol>
                <a:gridCol w="3386667">
                  <a:extLst>
                    <a:ext uri="{9D8B030D-6E8A-4147-A177-3AD203B41FA5}">
                      <a16:colId xmlns:a16="http://schemas.microsoft.com/office/drawing/2014/main" val="1620168524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fr-FR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Capability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Standard PPT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PowerPoint Live MCP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3744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fr-FR" sz="1100" b="0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Real-Time Live Automation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0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Yes (Full Visible)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825907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fr-FR" sz="1100" b="0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FastMCP Protocol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0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Yes (48+ Native Tools)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798809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fr-FR" sz="1100" b="0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AI Agent Autonomous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0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Yes (Antigravity &amp; Claude)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985967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fr-FR" sz="1100" b="0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Executive Widgets (Cards/Timelines)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0">
                          <a:solidFill>
                            <a:srgbClr val="334155"/>
                          </a:solidFill>
                          <a:latin typeface="Segoe UI" panose="020B0502040204020203" pitchFamily="34" charset="0"/>
                        </a:rPr>
                        <a:t>Manual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1-Click API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277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998195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</Words>
  <Application>Microsoft Office PowerPoint</Application>
  <PresentationFormat>Personnalisé</PresentationFormat>
  <Paragraphs>75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Segoe UI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Oussama OUNS</dc:creator>
  <cp:lastModifiedBy>Oussama OUNS</cp:lastModifiedBy>
  <cp:revision>1</cp:revision>
  <dcterms:created xsi:type="dcterms:W3CDTF">2026-10-18T12:04:12Z</dcterms:created>
  <dcterms:modified xsi:type="dcterms:W3CDTF">2026-10-18T12:04:12Z</dcterms:modified>
</cp:coreProperties>
</file>